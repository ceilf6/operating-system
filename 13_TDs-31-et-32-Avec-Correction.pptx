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6" r:id="rId2"/>
    <p:sldId id="285" r:id="rId3"/>
    <p:sldId id="283" r:id="rId4"/>
    <p:sldId id="304" r:id="rId5"/>
    <p:sldId id="305" r:id="rId6"/>
    <p:sldId id="306" r:id="rId7"/>
    <p:sldId id="307" r:id="rId8"/>
    <p:sldId id="314" r:id="rId9"/>
    <p:sldId id="308" r:id="rId10"/>
    <p:sldId id="309" r:id="rId11"/>
    <p:sldId id="294" r:id="rId12"/>
    <p:sldId id="310" r:id="rId13"/>
    <p:sldId id="311" r:id="rId14"/>
    <p:sldId id="312" r:id="rId15"/>
    <p:sldId id="313" r:id="rId16"/>
    <p:sldId id="303" r:id="rId17"/>
    <p:sldId id="287"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17" d="100"/>
          <a:sy n="117" d="100"/>
        </p:scale>
        <p:origin x="80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61819E-CBF9-F9B5-BA76-9EDD1E30F4C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08ECC16-A959-8531-162A-9DACB76BD4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D06494C-3851-BDCC-2EB2-DB4EDD8EE5CF}"/>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5" name="Espace réservé du pied de page 4">
            <a:extLst>
              <a:ext uri="{FF2B5EF4-FFF2-40B4-BE49-F238E27FC236}">
                <a16:creationId xmlns:a16="http://schemas.microsoft.com/office/drawing/2014/main" id="{28000916-02A8-F99F-E925-9311C92AEE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7B5DC44-BF27-E25A-D697-91D9BAC20EF2}"/>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44535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66011F-D9EB-3019-3EC9-F6BFBB23A8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BC71D61-A8E9-06EC-FAB5-090C2A423AA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EA6E4B8-521A-B40A-B247-8C0B02CCA5C3}"/>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5" name="Espace réservé du pied de page 4">
            <a:extLst>
              <a:ext uri="{FF2B5EF4-FFF2-40B4-BE49-F238E27FC236}">
                <a16:creationId xmlns:a16="http://schemas.microsoft.com/office/drawing/2014/main" id="{2A0A5402-FCA6-4846-EEF0-045F930553E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05D85AC-F88B-B842-4B4C-67603BFC995E}"/>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3851087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8618B2-676C-1ACD-CC97-4439697C13D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05B463F-6B9D-A98D-14D7-F16112271F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B59DEC0-24F4-545C-4FBE-7E1DA1EEE594}"/>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5" name="Espace réservé du pied de page 4">
            <a:extLst>
              <a:ext uri="{FF2B5EF4-FFF2-40B4-BE49-F238E27FC236}">
                <a16:creationId xmlns:a16="http://schemas.microsoft.com/office/drawing/2014/main" id="{E653B23A-8F1D-20B5-0D4A-595E6A7AD03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C89E335-9A70-149C-57A5-70A1AA623FF8}"/>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3752614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10E2B9-5CB3-DC2F-EDDA-EFE9E18540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641A53B-1EF9-C8DD-D8D0-076C1617B6C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72D03FD-DD3A-4051-4C95-69C50F259EC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BD62B81-9DEA-319D-76FA-55DB093A0485}"/>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6" name="Espace réservé du pied de page 5">
            <a:extLst>
              <a:ext uri="{FF2B5EF4-FFF2-40B4-BE49-F238E27FC236}">
                <a16:creationId xmlns:a16="http://schemas.microsoft.com/office/drawing/2014/main" id="{1A31DF5E-9907-A1D9-1D40-AEFB1662DA4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EC675F0-C6E0-510B-500B-58BAA2319836}"/>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884707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951BAF-7A1C-A8FD-953D-FE2A67FEC24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1D852F3-0200-2326-20D9-B66475EFBD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D5DE0BD-3094-2291-BAA7-FE3A4A6D8E5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DAD739C-6450-EDEE-F749-E0B2EB34D7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77A3361-7E85-577B-EE4D-A97D6F5382A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082B480-5960-154C-5AAC-51CC4969F12F}"/>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8" name="Espace réservé du pied de page 7">
            <a:extLst>
              <a:ext uri="{FF2B5EF4-FFF2-40B4-BE49-F238E27FC236}">
                <a16:creationId xmlns:a16="http://schemas.microsoft.com/office/drawing/2014/main" id="{54D0FBC3-D22D-3678-F87B-E0815716E45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FF2CFBF-71C6-7EFD-AFFA-8845C6F43584}"/>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4020047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02A22B-6522-28A4-9631-7A5CCF88B8B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DD19CA5-6AD9-6F24-9292-62CC17FA16A7}"/>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4" name="Espace réservé du pied de page 3">
            <a:extLst>
              <a:ext uri="{FF2B5EF4-FFF2-40B4-BE49-F238E27FC236}">
                <a16:creationId xmlns:a16="http://schemas.microsoft.com/office/drawing/2014/main" id="{03E22BAE-D3A9-2E04-69E1-13DB2FF82A3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B84223E-D983-0466-CB27-312881FF3116}"/>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1278762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2109AD6-BA46-1051-C466-776C77931F08}"/>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3" name="Espace réservé du pied de page 2">
            <a:extLst>
              <a:ext uri="{FF2B5EF4-FFF2-40B4-BE49-F238E27FC236}">
                <a16:creationId xmlns:a16="http://schemas.microsoft.com/office/drawing/2014/main" id="{C2ECC0EA-85C8-83EB-5B8A-BFE2E8A7C07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94A8D15-270E-608B-3193-1A9F6E52C0C1}"/>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323210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3046AD-BF8D-F31A-FC2E-8B6A999EE6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94D8A9E-45F5-493F-AD9E-8A19A3CD0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F26DB31-EC58-6C50-DD2B-05296931F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EF9232B-EA82-CECD-3712-C03C6DF271EC}"/>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6" name="Espace réservé du pied de page 5">
            <a:extLst>
              <a:ext uri="{FF2B5EF4-FFF2-40B4-BE49-F238E27FC236}">
                <a16:creationId xmlns:a16="http://schemas.microsoft.com/office/drawing/2014/main" id="{44009888-A6FF-E61A-0135-8957A10FE53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313245D-787A-3574-FE23-28AAD81E17E9}"/>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43291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F69BE3-16A3-8437-FC79-74AD6AB4944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3F0962E-9F07-386D-4B7F-A603BCF2E2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A5C06D7-B40E-463E-1C16-CA8354E98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77A56CC-F97F-470A-336C-DDEDA6D3CFB2}"/>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6" name="Espace réservé du pied de page 5">
            <a:extLst>
              <a:ext uri="{FF2B5EF4-FFF2-40B4-BE49-F238E27FC236}">
                <a16:creationId xmlns:a16="http://schemas.microsoft.com/office/drawing/2014/main" id="{47D59AFB-74B3-B0CA-3B8C-8EB76199894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254D0DB-08D6-4210-A15F-41C502B430A5}"/>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2440559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D5728D-3AC4-CED5-731D-CB7BAA98863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3EE80BE-F059-0132-7EA2-40772FCD115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09D61CC-5746-7020-2591-0BEBD4EBF99D}"/>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5" name="Espace réservé du pied de page 4">
            <a:extLst>
              <a:ext uri="{FF2B5EF4-FFF2-40B4-BE49-F238E27FC236}">
                <a16:creationId xmlns:a16="http://schemas.microsoft.com/office/drawing/2014/main" id="{AE67DCD7-A2B5-C9B8-E3FC-A5B5CA5884E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C94ADA-2986-FBBC-0113-0555232F8A7B}"/>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1333731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8F9AB93-750D-163A-3A76-C43117F3784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F74EB97-28C5-A05D-63F5-AC318D0522D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AE3307-E2E2-76D3-DAFC-296BA5C75AB2}"/>
              </a:ext>
            </a:extLst>
          </p:cNvPr>
          <p:cNvSpPr>
            <a:spLocks noGrp="1"/>
          </p:cNvSpPr>
          <p:nvPr>
            <p:ph type="dt" sz="half" idx="10"/>
          </p:nvPr>
        </p:nvSpPr>
        <p:spPr/>
        <p:txBody>
          <a:bodyPr/>
          <a:lstStyle/>
          <a:p>
            <a:fld id="{78B2AE16-7C77-AC40-BFDD-F38FB8CDE510}" type="datetimeFigureOut">
              <a:rPr lang="fr-FR" smtClean="0"/>
              <a:t>28/03/2026</a:t>
            </a:fld>
            <a:endParaRPr lang="fr-FR"/>
          </a:p>
        </p:txBody>
      </p:sp>
      <p:sp>
        <p:nvSpPr>
          <p:cNvPr id="5" name="Espace réservé du pied de page 4">
            <a:extLst>
              <a:ext uri="{FF2B5EF4-FFF2-40B4-BE49-F238E27FC236}">
                <a16:creationId xmlns:a16="http://schemas.microsoft.com/office/drawing/2014/main" id="{3A89B512-5DFE-36E8-D1BE-876AB0BD437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F119A4C-850B-A748-F1AF-A8729C01EBEF}"/>
              </a:ext>
            </a:extLst>
          </p:cNvPr>
          <p:cNvSpPr>
            <a:spLocks noGrp="1"/>
          </p:cNvSpPr>
          <p:nvPr>
            <p:ph type="sldNum" sz="quarter" idx="12"/>
          </p:nvPr>
        </p:nvSpPr>
        <p:spPr/>
        <p:txBody>
          <a:bodyPr/>
          <a:lstStyle/>
          <a:p>
            <a:fld id="{7AE370F0-EE30-D245-B5D0-D56CFEB5ABED}" type="slidenum">
              <a:rPr lang="fr-FR" smtClean="0"/>
              <a:t>‹N°›</a:t>
            </a:fld>
            <a:endParaRPr lang="fr-FR"/>
          </a:p>
        </p:txBody>
      </p:sp>
    </p:spTree>
    <p:extLst>
      <p:ext uri="{BB962C8B-B14F-4D97-AF65-F5344CB8AC3E}">
        <p14:creationId xmlns:p14="http://schemas.microsoft.com/office/powerpoint/2010/main" val="378310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152C9C7-37D0-CE87-79C1-F2E76036C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9260B36-6C2C-A461-AB6F-8125DB5C47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CC0D77C-6ADA-0CA2-0768-184203000D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B2AE16-7C77-AC40-BFDD-F38FB8CDE510}" type="datetimeFigureOut">
              <a:rPr lang="fr-FR" smtClean="0"/>
              <a:t>28/03/2026</a:t>
            </a:fld>
            <a:endParaRPr lang="fr-FR"/>
          </a:p>
        </p:txBody>
      </p:sp>
      <p:sp>
        <p:nvSpPr>
          <p:cNvPr id="5" name="Espace réservé du pied de page 4">
            <a:extLst>
              <a:ext uri="{FF2B5EF4-FFF2-40B4-BE49-F238E27FC236}">
                <a16:creationId xmlns:a16="http://schemas.microsoft.com/office/drawing/2014/main" id="{B2EDAB19-0F21-3B31-A473-594524B2B9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72CB37C-6633-96D5-B6EE-45D568109A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E370F0-EE30-D245-B5D0-D56CFEB5ABED}" type="slidenum">
              <a:rPr lang="fr-FR" smtClean="0"/>
              <a:t>‹N°›</a:t>
            </a:fld>
            <a:endParaRPr lang="fr-FR"/>
          </a:p>
        </p:txBody>
      </p:sp>
    </p:spTree>
    <p:extLst>
      <p:ext uri="{BB962C8B-B14F-4D97-AF65-F5344CB8AC3E}">
        <p14:creationId xmlns:p14="http://schemas.microsoft.com/office/powerpoint/2010/main" val="174271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7598B-AD15-CFFD-833B-30FBA19C9F1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71DE7FF-21C8-D3FF-8183-0374E2966479}"/>
              </a:ext>
            </a:extLst>
          </p:cNvPr>
          <p:cNvSpPr/>
          <p:nvPr/>
        </p:nvSpPr>
        <p:spPr>
          <a:xfrm>
            <a:off x="0" y="0"/>
            <a:ext cx="12192000" cy="6858000"/>
          </a:xfrm>
          <a:prstGeom prst="rect">
            <a:avLst/>
          </a:prstGeom>
          <a:noFill/>
          <a:ln w="5715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45E5E213-B76C-92F2-5203-C4C4C3219E5E}"/>
              </a:ext>
            </a:extLst>
          </p:cNvPr>
          <p:cNvSpPr txBox="1"/>
          <p:nvPr/>
        </p:nvSpPr>
        <p:spPr>
          <a:xfrm>
            <a:off x="1515259" y="2767280"/>
            <a:ext cx="9252825" cy="1323439"/>
          </a:xfrm>
          <a:prstGeom prst="rect">
            <a:avLst/>
          </a:prstGeom>
          <a:noFill/>
        </p:spPr>
        <p:txBody>
          <a:bodyPr wrap="square" rtlCol="0">
            <a:spAutoFit/>
          </a:bodyPr>
          <a:lstStyle/>
          <a:p>
            <a:pPr algn="ctr"/>
            <a:r>
              <a:rPr lang="fr-FR" sz="8000" b="1" dirty="0"/>
              <a:t>TD 3.1</a:t>
            </a:r>
            <a:endParaRPr lang="fr-FR" sz="3600" b="1" dirty="0"/>
          </a:p>
        </p:txBody>
      </p:sp>
    </p:spTree>
    <p:extLst>
      <p:ext uri="{BB962C8B-B14F-4D97-AF65-F5344CB8AC3E}">
        <p14:creationId xmlns:p14="http://schemas.microsoft.com/office/powerpoint/2010/main" val="1669728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D5AF9-C1BB-25BB-6F49-31320137190A}"/>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65428892-B75C-3F24-3881-C8FA9F6F1909}"/>
              </a:ext>
            </a:extLst>
          </p:cNvPr>
          <p:cNvSpPr txBox="1"/>
          <p:nvPr/>
        </p:nvSpPr>
        <p:spPr>
          <a:xfrm>
            <a:off x="162046" y="300941"/>
            <a:ext cx="11655706" cy="4801314"/>
          </a:xfrm>
          <a:prstGeom prst="rect">
            <a:avLst/>
          </a:prstGeom>
          <a:noFill/>
        </p:spPr>
        <p:txBody>
          <a:bodyPr wrap="square" rtlCol="0">
            <a:spAutoFit/>
          </a:bodyPr>
          <a:lstStyle/>
          <a:p>
            <a:r>
              <a:rPr lang="fr-FR" sz="1800" b="1" dirty="0">
                <a:effectLst/>
                <a:latin typeface="Calibri" panose="020F0502020204030204" pitchFamily="34" charset="0"/>
                <a:ea typeface="Calibri" panose="020F0502020204030204" pitchFamily="34" charset="0"/>
                <a:cs typeface="Times New Roman" panose="02020603050405020304" pitchFamily="18" charset="0"/>
              </a:rPr>
              <a:t>Exercice 1</a:t>
            </a:r>
            <a:endParaRPr lang="fr-FR" sz="1800" b="1" dirty="0">
              <a:latin typeface="Calibri" panose="020F0502020204030204" pitchFamily="34" charset="0"/>
              <a:ea typeface="Calibri" panose="020F0502020204030204" pitchFamily="34" charset="0"/>
              <a:cs typeface="Times New Roman" panose="02020603050405020304" pitchFamily="18" charset="0"/>
            </a:endParaRPr>
          </a:p>
          <a:p>
            <a:r>
              <a:rPr lang="fr-FR" sz="1800" dirty="0">
                <a:latin typeface="Calibri" panose="020F0502020204030204" pitchFamily="34" charset="0"/>
                <a:ea typeface="Calibri" panose="020F0502020204030204" pitchFamily="34" charset="0"/>
                <a:cs typeface="Times New Roman" panose="02020603050405020304" pitchFamily="18" charset="0"/>
              </a:rPr>
              <a:t>Expliquez les lignes suivantes du </a:t>
            </a:r>
            <a:r>
              <a:rPr lang="fr-FR" sz="1800" dirty="0" err="1">
                <a:latin typeface="Calibri" panose="020F0502020204030204" pitchFamily="34" charset="0"/>
                <a:ea typeface="Calibri" panose="020F0502020204030204" pitchFamily="34" charset="0"/>
                <a:cs typeface="Times New Roman" panose="02020603050405020304" pitchFamily="18" charset="0"/>
              </a:rPr>
              <a:t>syslog.conf</a:t>
            </a:r>
            <a:r>
              <a:rPr lang="fr-FR" sz="1800" dirty="0">
                <a:latin typeface="Calibri" panose="020F0502020204030204" pitchFamily="34" charset="0"/>
                <a:ea typeface="Calibri" panose="020F0502020204030204" pitchFamily="34" charset="0"/>
                <a:cs typeface="Times New Roman" panose="02020603050405020304" pitchFamily="18" charset="0"/>
              </a:rPr>
              <a:t> :</a:t>
            </a:r>
          </a:p>
          <a:p>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r>
              <a:rPr lang="fr-FR" sz="1800" dirty="0" err="1">
                <a:latin typeface="Calibri" panose="020F0502020204030204" pitchFamily="34" charset="0"/>
                <a:ea typeface="Calibri" panose="020F0502020204030204" pitchFamily="34" charset="0"/>
                <a:cs typeface="Times New Roman" panose="02020603050405020304" pitchFamily="18" charset="0"/>
              </a:rPr>
              <a:t>mail.notice</a:t>
            </a:r>
            <a:r>
              <a:rPr lang="fr-FR" sz="1800" dirty="0">
                <a:latin typeface="Calibri" panose="020F0502020204030204" pitchFamily="34" charset="0"/>
                <a:ea typeface="Calibri" panose="020F0502020204030204" pitchFamily="34" charset="0"/>
                <a:cs typeface="Times New Roman" panose="02020603050405020304" pitchFamily="18" charset="0"/>
              </a:rPr>
              <a:t>     			/var/log/mail</a:t>
            </a: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r>
              <a:rPr lang="fr-FR" sz="1800" dirty="0">
                <a:latin typeface="Calibri" panose="020F0502020204030204" pitchFamily="34" charset="0"/>
                <a:ea typeface="Calibri" panose="020F0502020204030204" pitchFamily="34" charset="0"/>
                <a:cs typeface="Times New Roman" panose="02020603050405020304" pitchFamily="18" charset="0"/>
              </a:rPr>
              <a:t>*.</a:t>
            </a:r>
            <a:r>
              <a:rPr lang="fr-FR" sz="1800" dirty="0" err="1">
                <a:latin typeface="Calibri" panose="020F0502020204030204" pitchFamily="34" charset="0"/>
                <a:ea typeface="Calibri" panose="020F0502020204030204" pitchFamily="34" charset="0"/>
                <a:cs typeface="Times New Roman" panose="02020603050405020304" pitchFamily="18" charset="0"/>
              </a:rPr>
              <a:t>emerg</a:t>
            </a:r>
            <a:r>
              <a:rPr lang="fr-FR" sz="1800" dirty="0">
                <a:latin typeface="Calibri" panose="020F0502020204030204" pitchFamily="34" charset="0"/>
                <a:ea typeface="Calibri" panose="020F0502020204030204" pitchFamily="34" charset="0"/>
                <a:cs typeface="Times New Roman" panose="02020603050405020304" pitchFamily="18" charset="0"/>
              </a:rPr>
              <a:t>          			@</a:t>
            </a:r>
            <a:r>
              <a:rPr lang="fr-FR" sz="1800" dirty="0" err="1">
                <a:latin typeface="Calibri" panose="020F0502020204030204" pitchFamily="34" charset="0"/>
                <a:ea typeface="Calibri" panose="020F0502020204030204" pitchFamily="34" charset="0"/>
                <a:cs typeface="Times New Roman" panose="02020603050405020304" pitchFamily="18" charset="0"/>
              </a:rPr>
              <a:t>mothership.mydomain.org</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r>
              <a:rPr lang="fr-FR" sz="1800" dirty="0" err="1">
                <a:latin typeface="Calibri" panose="020F0502020204030204" pitchFamily="34" charset="0"/>
                <a:ea typeface="Calibri" panose="020F0502020204030204" pitchFamily="34" charset="0"/>
                <a:cs typeface="Times New Roman" panose="02020603050405020304" pitchFamily="18" charset="0"/>
              </a:rPr>
              <a:t>mail,uucp.notice</a:t>
            </a:r>
            <a:r>
              <a:rPr lang="fr-FR" sz="1800" dirty="0">
                <a:latin typeface="Calibri" panose="020F0502020204030204" pitchFamily="34" charset="0"/>
                <a:ea typeface="Calibri" panose="020F0502020204030204" pitchFamily="34" charset="0"/>
                <a:cs typeface="Times New Roman" panose="02020603050405020304" pitchFamily="18" charset="0"/>
              </a:rPr>
              <a:t>    	 	/var/log/mail</a:t>
            </a: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r>
              <a:rPr lang="fr-FR" sz="1800" dirty="0">
                <a:latin typeface="Calibri" panose="020F0502020204030204" pitchFamily="34" charset="0"/>
                <a:ea typeface="Calibri" panose="020F0502020204030204" pitchFamily="34" charset="0"/>
                <a:cs typeface="Times New Roman" panose="02020603050405020304" pitchFamily="18" charset="0"/>
              </a:rPr>
              <a:t>      </a:t>
            </a:r>
          </a:p>
          <a:p>
            <a:pPr marL="355600"/>
            <a:r>
              <a:rPr lang="fr-FR" sz="1800" dirty="0" err="1">
                <a:latin typeface="Calibri" panose="020F0502020204030204" pitchFamily="34" charset="0"/>
                <a:ea typeface="Calibri" panose="020F0502020204030204" pitchFamily="34" charset="0"/>
                <a:cs typeface="Times New Roman" panose="02020603050405020304" pitchFamily="18" charset="0"/>
              </a:rPr>
              <a:t>mail,uucp.notice;uucp</a:t>
            </a:r>
            <a:r>
              <a:rPr lang="fr-FR" sz="1800" dirty="0">
                <a:latin typeface="Calibri" panose="020F0502020204030204" pitchFamily="34" charset="0"/>
                <a:ea typeface="Calibri" panose="020F0502020204030204" pitchFamily="34" charset="0"/>
                <a:cs typeface="Times New Roman" panose="02020603050405020304" pitchFamily="18" charset="0"/>
              </a:rPr>
              <a:t>.!=</a:t>
            </a:r>
            <a:r>
              <a:rPr lang="fr-FR" sz="1800" dirty="0" err="1">
                <a:latin typeface="Calibri" panose="020F0502020204030204" pitchFamily="34" charset="0"/>
                <a:ea typeface="Calibri" panose="020F0502020204030204" pitchFamily="34" charset="0"/>
                <a:cs typeface="Times New Roman" panose="02020603050405020304" pitchFamily="18" charset="0"/>
              </a:rPr>
              <a:t>alert</a:t>
            </a:r>
            <a:r>
              <a:rPr lang="fr-FR" sz="1800" dirty="0">
                <a:latin typeface="Calibri" panose="020F0502020204030204" pitchFamily="34" charset="0"/>
                <a:ea typeface="Calibri" panose="020F0502020204030204" pitchFamily="34" charset="0"/>
                <a:cs typeface="Times New Roman" panose="02020603050405020304" pitchFamily="18" charset="0"/>
              </a:rPr>
              <a:t>     	/var/log/mail </a:t>
            </a: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355600"/>
            <a:r>
              <a:rPr lang="fr-FR" sz="1800" dirty="0">
                <a:latin typeface="Calibri" panose="020F0502020204030204" pitchFamily="34" charset="0"/>
                <a:ea typeface="Calibri" panose="020F0502020204030204" pitchFamily="34" charset="0"/>
                <a:cs typeface="Times New Roman" panose="02020603050405020304" pitchFamily="18" charset="0"/>
              </a:rPr>
              <a:t> </a:t>
            </a:r>
          </a:p>
          <a:p>
            <a:pPr marL="355600"/>
            <a:r>
              <a:rPr lang="fr-FR" sz="1800" dirty="0">
                <a:latin typeface="Calibri" panose="020F0502020204030204" pitchFamily="34" charset="0"/>
                <a:ea typeface="Calibri" panose="020F0502020204030204" pitchFamily="34" charset="0"/>
                <a:cs typeface="Times New Roman" panose="02020603050405020304" pitchFamily="18" charset="0"/>
              </a:rPr>
              <a:t>mail,uucp.</a:t>
            </a:r>
            <a:r>
              <a:rPr lang="fr-FR" sz="1800" dirty="0" err="1">
                <a:latin typeface="Calibri" panose="020F0502020204030204" pitchFamily="34" charset="0"/>
                <a:ea typeface="Calibri" panose="020F0502020204030204" pitchFamily="34" charset="0"/>
                <a:cs typeface="Times New Roman" panose="02020603050405020304" pitchFamily="18" charset="0"/>
              </a:rPr>
              <a:t>notice;uucp</a:t>
            </a:r>
            <a:r>
              <a:rPr lang="fr-FR" sz="1800" dirty="0">
                <a:latin typeface="Calibri" panose="020F0502020204030204" pitchFamily="34" charset="0"/>
                <a:ea typeface="Calibri" panose="020F0502020204030204" pitchFamily="34" charset="0"/>
                <a:cs typeface="Times New Roman" panose="02020603050405020304" pitchFamily="18" charset="0"/>
              </a:rPr>
              <a:t>.!</a:t>
            </a:r>
            <a:r>
              <a:rPr lang="fr-FR" sz="1800" dirty="0" err="1">
                <a:latin typeface="Calibri" panose="020F0502020204030204" pitchFamily="34" charset="0"/>
                <a:ea typeface="Calibri" panose="020F0502020204030204" pitchFamily="34" charset="0"/>
                <a:cs typeface="Times New Roman" panose="02020603050405020304" pitchFamily="18" charset="0"/>
              </a:rPr>
              <a:t>alert</a:t>
            </a:r>
            <a:r>
              <a:rPr lang="fr-FR" sz="1800" dirty="0">
                <a:latin typeface="Calibri" panose="020F0502020204030204" pitchFamily="34" charset="0"/>
                <a:ea typeface="Calibri" panose="020F0502020204030204" pitchFamily="34" charset="0"/>
                <a:cs typeface="Times New Roman" panose="02020603050405020304" pitchFamily="18" charset="0"/>
              </a:rPr>
              <a:t>      	/var/log/mail</a:t>
            </a:r>
          </a:p>
        </p:txBody>
      </p:sp>
      <p:sp>
        <p:nvSpPr>
          <p:cNvPr id="2" name="ZoneTexte 1">
            <a:extLst>
              <a:ext uri="{FF2B5EF4-FFF2-40B4-BE49-F238E27FC236}">
                <a16:creationId xmlns:a16="http://schemas.microsoft.com/office/drawing/2014/main" id="{2F7C3CA5-1012-16A4-C83C-DC4B71F82B4D}"/>
              </a:ext>
            </a:extLst>
          </p:cNvPr>
          <p:cNvSpPr txBox="1"/>
          <p:nvPr/>
        </p:nvSpPr>
        <p:spPr>
          <a:xfrm>
            <a:off x="533400" y="1409700"/>
            <a:ext cx="9953046" cy="369332"/>
          </a:xfrm>
          <a:prstGeom prst="rect">
            <a:avLst/>
          </a:prstGeom>
          <a:noFill/>
        </p:spPr>
        <p:txBody>
          <a:bodyPr wrap="none" rtlCol="0">
            <a:spAutoFit/>
          </a:bodyPr>
          <a:lstStyle/>
          <a:p>
            <a:r>
              <a:rPr lang="fr-FR" i="1" dirty="0">
                <a:solidFill>
                  <a:srgbClr val="FF0000"/>
                </a:solidFill>
              </a:rPr>
              <a:t>Les messages de priorité notice et supérieurs de la « facilité » mail sont envoyés dans le fichier mail</a:t>
            </a:r>
          </a:p>
        </p:txBody>
      </p:sp>
      <p:sp>
        <p:nvSpPr>
          <p:cNvPr id="3" name="ZoneTexte 2">
            <a:extLst>
              <a:ext uri="{FF2B5EF4-FFF2-40B4-BE49-F238E27FC236}">
                <a16:creationId xmlns:a16="http://schemas.microsoft.com/office/drawing/2014/main" id="{1E1C1CE9-CE5F-C511-7644-2DAF27668E99}"/>
              </a:ext>
            </a:extLst>
          </p:cNvPr>
          <p:cNvSpPr txBox="1"/>
          <p:nvPr/>
        </p:nvSpPr>
        <p:spPr>
          <a:xfrm>
            <a:off x="533400" y="2223800"/>
            <a:ext cx="9866547" cy="369332"/>
          </a:xfrm>
          <a:prstGeom prst="rect">
            <a:avLst/>
          </a:prstGeom>
          <a:noFill/>
        </p:spPr>
        <p:txBody>
          <a:bodyPr wrap="none" rtlCol="0">
            <a:spAutoFit/>
          </a:bodyPr>
          <a:lstStyle/>
          <a:p>
            <a:r>
              <a:rPr lang="fr-FR" i="1" dirty="0">
                <a:solidFill>
                  <a:srgbClr val="FF0000"/>
                </a:solidFill>
              </a:rPr>
              <a:t>Les messages de priorité </a:t>
            </a:r>
            <a:r>
              <a:rPr lang="fr-FR" i="1" dirty="0" err="1">
                <a:solidFill>
                  <a:srgbClr val="FF0000"/>
                </a:solidFill>
              </a:rPr>
              <a:t>emerg</a:t>
            </a:r>
            <a:r>
              <a:rPr lang="fr-FR" i="1" dirty="0">
                <a:solidFill>
                  <a:srgbClr val="FF0000"/>
                </a:solidFill>
              </a:rPr>
              <a:t> et supérieurs de toutes les « facilités » vers la machine </a:t>
            </a:r>
            <a:r>
              <a:rPr lang="fr-FR" i="1" dirty="0" err="1">
                <a:solidFill>
                  <a:srgbClr val="FF0000"/>
                </a:solidFill>
              </a:rPr>
              <a:t>mothership</a:t>
            </a:r>
            <a:endParaRPr lang="fr-FR" i="1" dirty="0">
              <a:solidFill>
                <a:srgbClr val="FF0000"/>
              </a:solidFill>
            </a:endParaRPr>
          </a:p>
        </p:txBody>
      </p:sp>
      <p:sp>
        <p:nvSpPr>
          <p:cNvPr id="5" name="ZoneTexte 4">
            <a:extLst>
              <a:ext uri="{FF2B5EF4-FFF2-40B4-BE49-F238E27FC236}">
                <a16:creationId xmlns:a16="http://schemas.microsoft.com/office/drawing/2014/main" id="{6FDD12F2-954B-5C13-EF3D-DEE74831E945}"/>
              </a:ext>
            </a:extLst>
          </p:cNvPr>
          <p:cNvSpPr txBox="1"/>
          <p:nvPr/>
        </p:nvSpPr>
        <p:spPr>
          <a:xfrm>
            <a:off x="533400" y="3117478"/>
            <a:ext cx="10692030" cy="369332"/>
          </a:xfrm>
          <a:prstGeom prst="rect">
            <a:avLst/>
          </a:prstGeom>
          <a:noFill/>
        </p:spPr>
        <p:txBody>
          <a:bodyPr wrap="none" rtlCol="0">
            <a:spAutoFit/>
          </a:bodyPr>
          <a:lstStyle/>
          <a:p>
            <a:r>
              <a:rPr lang="fr-FR" i="1" dirty="0">
                <a:solidFill>
                  <a:srgbClr val="FF0000"/>
                </a:solidFill>
              </a:rPr>
              <a:t>Les messages de priorité notice et supérieurs des « facilités » mail et </a:t>
            </a:r>
            <a:r>
              <a:rPr lang="fr-FR" i="1" dirty="0" err="1">
                <a:solidFill>
                  <a:srgbClr val="FF0000"/>
                </a:solidFill>
              </a:rPr>
              <a:t>uucp</a:t>
            </a:r>
            <a:r>
              <a:rPr lang="fr-FR" i="1" dirty="0">
                <a:solidFill>
                  <a:srgbClr val="FF0000"/>
                </a:solidFill>
              </a:rPr>
              <a:t> sont envoyés dans le fichier mail</a:t>
            </a:r>
          </a:p>
        </p:txBody>
      </p:sp>
      <p:sp>
        <p:nvSpPr>
          <p:cNvPr id="6" name="ZoneTexte 5">
            <a:extLst>
              <a:ext uri="{FF2B5EF4-FFF2-40B4-BE49-F238E27FC236}">
                <a16:creationId xmlns:a16="http://schemas.microsoft.com/office/drawing/2014/main" id="{66FCA406-697E-B484-5194-80F88CB40B02}"/>
              </a:ext>
            </a:extLst>
          </p:cNvPr>
          <p:cNvSpPr txBox="1"/>
          <p:nvPr/>
        </p:nvSpPr>
        <p:spPr>
          <a:xfrm>
            <a:off x="533400" y="3931578"/>
            <a:ext cx="10570330" cy="646331"/>
          </a:xfrm>
          <a:prstGeom prst="rect">
            <a:avLst/>
          </a:prstGeom>
          <a:noFill/>
        </p:spPr>
        <p:txBody>
          <a:bodyPr wrap="none" rtlCol="0">
            <a:spAutoFit/>
          </a:bodyPr>
          <a:lstStyle/>
          <a:p>
            <a:r>
              <a:rPr lang="fr-FR" i="1" dirty="0">
                <a:solidFill>
                  <a:srgbClr val="FF0000"/>
                </a:solidFill>
              </a:rPr>
              <a:t>Les messages de priorité notice et supérieurs des « facilités » mail et </a:t>
            </a:r>
            <a:r>
              <a:rPr lang="fr-FR" i="1" dirty="0" err="1">
                <a:solidFill>
                  <a:srgbClr val="FF0000"/>
                </a:solidFill>
              </a:rPr>
              <a:t>uucp</a:t>
            </a:r>
            <a:r>
              <a:rPr lang="fr-FR" i="1" dirty="0">
                <a:solidFill>
                  <a:srgbClr val="FF0000"/>
                </a:solidFill>
              </a:rPr>
              <a:t> sauf de priorité </a:t>
            </a:r>
            <a:r>
              <a:rPr lang="fr-FR" i="1" dirty="0" err="1">
                <a:solidFill>
                  <a:srgbClr val="FF0000"/>
                </a:solidFill>
              </a:rPr>
              <a:t>alert</a:t>
            </a:r>
            <a:r>
              <a:rPr lang="fr-FR" i="1" dirty="0">
                <a:solidFill>
                  <a:srgbClr val="FF0000"/>
                </a:solidFill>
              </a:rPr>
              <a:t> pour </a:t>
            </a:r>
            <a:r>
              <a:rPr lang="fr-FR" i="1" dirty="0" err="1">
                <a:solidFill>
                  <a:srgbClr val="FF0000"/>
                </a:solidFill>
              </a:rPr>
              <a:t>uucp</a:t>
            </a:r>
            <a:r>
              <a:rPr lang="fr-FR" i="1" dirty="0">
                <a:solidFill>
                  <a:srgbClr val="FF0000"/>
                </a:solidFill>
              </a:rPr>
              <a:t> </a:t>
            </a:r>
          </a:p>
          <a:p>
            <a:r>
              <a:rPr lang="fr-FR" i="1" dirty="0">
                <a:solidFill>
                  <a:srgbClr val="FF0000"/>
                </a:solidFill>
              </a:rPr>
              <a:t>sont envoyés dans le fichier mail</a:t>
            </a:r>
          </a:p>
        </p:txBody>
      </p:sp>
      <p:sp>
        <p:nvSpPr>
          <p:cNvPr id="8" name="ZoneTexte 7">
            <a:extLst>
              <a:ext uri="{FF2B5EF4-FFF2-40B4-BE49-F238E27FC236}">
                <a16:creationId xmlns:a16="http://schemas.microsoft.com/office/drawing/2014/main" id="{4CCDCA52-3766-20CE-5FE1-237DE41A05A5}"/>
              </a:ext>
            </a:extLst>
          </p:cNvPr>
          <p:cNvSpPr txBox="1"/>
          <p:nvPr/>
        </p:nvSpPr>
        <p:spPr>
          <a:xfrm>
            <a:off x="533400" y="5041263"/>
            <a:ext cx="10863936" cy="646331"/>
          </a:xfrm>
          <a:prstGeom prst="rect">
            <a:avLst/>
          </a:prstGeom>
          <a:noFill/>
        </p:spPr>
        <p:txBody>
          <a:bodyPr wrap="none" rtlCol="0">
            <a:spAutoFit/>
          </a:bodyPr>
          <a:lstStyle/>
          <a:p>
            <a:r>
              <a:rPr lang="fr-FR" i="1" dirty="0">
                <a:solidFill>
                  <a:srgbClr val="FF0000"/>
                </a:solidFill>
              </a:rPr>
              <a:t>Les messages de priorité notice et supérieurs des « facilités » mail et </a:t>
            </a:r>
            <a:r>
              <a:rPr lang="fr-FR" i="1" dirty="0" err="1">
                <a:solidFill>
                  <a:srgbClr val="FF0000"/>
                </a:solidFill>
              </a:rPr>
              <a:t>uucp</a:t>
            </a:r>
            <a:r>
              <a:rPr lang="fr-FR" i="1" dirty="0">
                <a:solidFill>
                  <a:srgbClr val="FF0000"/>
                </a:solidFill>
              </a:rPr>
              <a:t> sauf de priorité </a:t>
            </a:r>
            <a:r>
              <a:rPr lang="fr-FR" i="1" dirty="0" err="1">
                <a:solidFill>
                  <a:srgbClr val="FF0000"/>
                </a:solidFill>
              </a:rPr>
              <a:t>alert</a:t>
            </a:r>
            <a:r>
              <a:rPr lang="fr-FR" i="1" dirty="0">
                <a:solidFill>
                  <a:srgbClr val="FF0000"/>
                </a:solidFill>
              </a:rPr>
              <a:t> et supérieure </a:t>
            </a:r>
          </a:p>
          <a:p>
            <a:r>
              <a:rPr lang="fr-FR" i="1" dirty="0">
                <a:solidFill>
                  <a:srgbClr val="FF0000"/>
                </a:solidFill>
              </a:rPr>
              <a:t>pour </a:t>
            </a:r>
            <a:r>
              <a:rPr lang="fr-FR" i="1" dirty="0" err="1">
                <a:solidFill>
                  <a:srgbClr val="FF0000"/>
                </a:solidFill>
              </a:rPr>
              <a:t>uucp</a:t>
            </a:r>
            <a:r>
              <a:rPr lang="fr-FR" i="1" dirty="0">
                <a:solidFill>
                  <a:srgbClr val="FF0000"/>
                </a:solidFill>
              </a:rPr>
              <a:t> sont envoyés dans le fichier mail</a:t>
            </a:r>
          </a:p>
        </p:txBody>
      </p:sp>
    </p:spTree>
    <p:extLst>
      <p:ext uri="{BB962C8B-B14F-4D97-AF65-F5344CB8AC3E}">
        <p14:creationId xmlns:p14="http://schemas.microsoft.com/office/powerpoint/2010/main" val="314714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11C70-8FC4-EBE9-9967-ECCC56E29622}"/>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68FB1642-4F58-634A-83A8-8F9B5C10147C}"/>
              </a:ext>
            </a:extLst>
          </p:cNvPr>
          <p:cNvSpPr txBox="1"/>
          <p:nvPr/>
        </p:nvSpPr>
        <p:spPr>
          <a:xfrm>
            <a:off x="162046" y="300941"/>
            <a:ext cx="11655706" cy="1985159"/>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2 - </a:t>
            </a:r>
            <a:r>
              <a:rPr lang="fr-FR" b="1" dirty="0">
                <a:solidFill>
                  <a:srgbClr val="0E0E0E"/>
                </a:solidFill>
                <a:effectLst/>
                <a:latin typeface=".AppleSystemUIFont"/>
              </a:rPr>
              <a:t>Rotation des journaux</a:t>
            </a:r>
            <a:endParaRPr lang="fr-FR" dirty="0">
              <a:solidFill>
                <a:srgbClr val="0E0E0E"/>
              </a:solidFill>
              <a:effectLst/>
              <a:latin typeface=".AppleSystemUIFont"/>
            </a:endParaRPr>
          </a:p>
          <a:p>
            <a:pPr>
              <a:spcBef>
                <a:spcPts val="900"/>
              </a:spcBef>
            </a:pPr>
            <a:r>
              <a:rPr lang="fr-FR" dirty="0">
                <a:solidFill>
                  <a:srgbClr val="0E0E0E"/>
                </a:solidFill>
                <a:effectLst/>
                <a:latin typeface=".AppleSystemUIFont"/>
              </a:rPr>
              <a:t>1. Configurez la rotation automatique du fichier </a:t>
            </a:r>
            <a:r>
              <a:rPr lang="fr-FR" dirty="0">
                <a:solidFill>
                  <a:srgbClr val="0E0E0E"/>
                </a:solidFill>
                <a:effectLst/>
                <a:latin typeface=".AppleSystemUIFontMonospaced"/>
              </a:rPr>
              <a:t>/var/log/</a:t>
            </a:r>
            <a:r>
              <a:rPr lang="fr-FR" dirty="0" err="1">
                <a:solidFill>
                  <a:srgbClr val="0E0E0E"/>
                </a:solidFill>
                <a:effectLst/>
                <a:latin typeface=".AppleSystemUIFontMonospaced"/>
              </a:rPr>
              <a:t>warnings.log</a:t>
            </a:r>
            <a:r>
              <a:rPr lang="fr-FR" dirty="0">
                <a:solidFill>
                  <a:srgbClr val="0E0E0E"/>
                </a:solidFill>
                <a:effectLst/>
                <a:latin typeface=".AppleSystemUIFont"/>
              </a:rPr>
              <a:t> pour éviter qu’il devienne trop volumineux (utilisez </a:t>
            </a:r>
            <a:r>
              <a:rPr lang="fr-FR" dirty="0" err="1">
                <a:solidFill>
                  <a:srgbClr val="0E0E0E"/>
                </a:solidFill>
                <a:effectLst/>
                <a:latin typeface=".AppleSystemUIFontMonospaced"/>
              </a:rPr>
              <a:t>logrotate</a:t>
            </a:r>
            <a:r>
              <a:rPr lang="fr-FR" dirty="0">
                <a:solidFill>
                  <a:srgbClr val="0E0E0E"/>
                </a:solidFill>
                <a:effectLst/>
                <a:latin typeface=".AppleSystemUIFont"/>
              </a:rPr>
              <a:t>).</a:t>
            </a:r>
          </a:p>
          <a:p>
            <a:pPr>
              <a:spcBef>
                <a:spcPts val="900"/>
              </a:spcBef>
            </a:pPr>
            <a:r>
              <a:rPr lang="fr-FR" dirty="0">
                <a:solidFill>
                  <a:srgbClr val="0E0E0E"/>
                </a:solidFill>
                <a:effectLst/>
                <a:latin typeface=".AppleSystemUIFont"/>
              </a:rPr>
              <a:t>2. Limitez la taille du fichier journal à 10 Mo et conservez les 5 derniers fichiers.</a:t>
            </a:r>
          </a:p>
          <a:p>
            <a:endParaRPr lang="fr-FR" dirty="0"/>
          </a:p>
          <a:p>
            <a:endParaRPr lang="fr-FR" dirty="0"/>
          </a:p>
        </p:txBody>
      </p:sp>
    </p:spTree>
    <p:extLst>
      <p:ext uri="{BB962C8B-B14F-4D97-AF65-F5344CB8AC3E}">
        <p14:creationId xmlns:p14="http://schemas.microsoft.com/office/powerpoint/2010/main" val="1875542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6B5DF-FCD0-212D-C50F-AFD654313AD8}"/>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3925801D-0D61-616F-F7C3-1655CBBD83C8}"/>
              </a:ext>
            </a:extLst>
          </p:cNvPr>
          <p:cNvSpPr txBox="1"/>
          <p:nvPr/>
        </p:nvSpPr>
        <p:spPr>
          <a:xfrm>
            <a:off x="162046" y="300941"/>
            <a:ext cx="11655706" cy="6063198"/>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2 - </a:t>
            </a:r>
            <a:r>
              <a:rPr lang="fr-FR" b="1" dirty="0">
                <a:solidFill>
                  <a:srgbClr val="0E0E0E"/>
                </a:solidFill>
                <a:effectLst/>
                <a:latin typeface=".AppleSystemUIFont"/>
              </a:rPr>
              <a:t>Rotation des journaux</a:t>
            </a:r>
            <a:endParaRPr lang="fr-FR" dirty="0">
              <a:solidFill>
                <a:srgbClr val="0E0E0E"/>
              </a:solidFill>
              <a:effectLst/>
              <a:latin typeface=".AppleSystemUIFont"/>
            </a:endParaRPr>
          </a:p>
          <a:p>
            <a:pPr marL="342900" indent="-342900">
              <a:spcBef>
                <a:spcPts val="900"/>
              </a:spcBef>
              <a:buAutoNum type="arabicPeriod"/>
            </a:pPr>
            <a:r>
              <a:rPr lang="fr-FR" dirty="0">
                <a:solidFill>
                  <a:srgbClr val="0E0E0E"/>
                </a:solidFill>
                <a:effectLst/>
                <a:latin typeface=".AppleSystemUIFont"/>
              </a:rPr>
              <a:t>Configurez la rotation automatique du fichier </a:t>
            </a:r>
            <a:r>
              <a:rPr lang="fr-FR" dirty="0">
                <a:solidFill>
                  <a:srgbClr val="0E0E0E"/>
                </a:solidFill>
                <a:effectLst/>
                <a:latin typeface=".AppleSystemUIFontMonospaced"/>
              </a:rPr>
              <a:t>/var/log/</a:t>
            </a:r>
            <a:r>
              <a:rPr lang="fr-FR" dirty="0" err="1">
                <a:solidFill>
                  <a:srgbClr val="0E0E0E"/>
                </a:solidFill>
                <a:effectLst/>
                <a:latin typeface=".AppleSystemUIFontMonospaced"/>
              </a:rPr>
              <a:t>warnings.log</a:t>
            </a:r>
            <a:r>
              <a:rPr lang="fr-FR" dirty="0">
                <a:solidFill>
                  <a:srgbClr val="0E0E0E"/>
                </a:solidFill>
                <a:effectLst/>
                <a:latin typeface=".AppleSystemUIFont"/>
              </a:rPr>
              <a:t> pour éviter qu’il devienne trop volumineux (utilisez </a:t>
            </a:r>
            <a:r>
              <a:rPr lang="fr-FR" dirty="0" err="1">
                <a:solidFill>
                  <a:srgbClr val="0E0E0E"/>
                </a:solidFill>
                <a:effectLst/>
                <a:latin typeface=".AppleSystemUIFontMonospaced"/>
              </a:rPr>
              <a:t>logrotate</a:t>
            </a:r>
            <a:r>
              <a:rPr lang="fr-FR" dirty="0">
                <a:solidFill>
                  <a:srgbClr val="0E0E0E"/>
                </a:solidFill>
                <a:effectLst/>
                <a:latin typeface=".AppleSystemUIFont"/>
              </a:rPr>
              <a:t>).</a:t>
            </a:r>
          </a:p>
          <a:p>
            <a:pPr marL="342900" indent="-342900">
              <a:spcBef>
                <a:spcPts val="900"/>
              </a:spcBef>
              <a:buFontTx/>
              <a:buAutoNum type="arabicPeriod"/>
            </a:pPr>
            <a:r>
              <a:rPr lang="fr-FR" dirty="0">
                <a:solidFill>
                  <a:srgbClr val="0E0E0E"/>
                </a:solidFill>
                <a:effectLst/>
                <a:latin typeface=".AppleSystemUIFont"/>
              </a:rPr>
              <a:t>Limitez la taille du fichier journal à 10 Mo et conservez les 5 derniers fichiers.</a:t>
            </a:r>
          </a:p>
          <a:p>
            <a:pPr>
              <a:spcBef>
                <a:spcPts val="900"/>
              </a:spcBef>
            </a:pPr>
            <a:endParaRPr lang="fr-FR" sz="1600" i="1" dirty="0">
              <a:solidFill>
                <a:srgbClr val="FF0000"/>
              </a:solidFill>
              <a:latin typeface=".AppleSystemUIFont"/>
            </a:endParaRPr>
          </a:p>
          <a:p>
            <a:pPr>
              <a:spcBef>
                <a:spcPts val="900"/>
              </a:spcBef>
            </a:pPr>
            <a:r>
              <a:rPr lang="fr-FR" sz="1600" i="1" dirty="0">
                <a:solidFill>
                  <a:srgbClr val="FF0000"/>
                </a:solidFill>
                <a:latin typeface=".AppleSystemUIFont"/>
              </a:rPr>
              <a:t>	Modifier le fichier de configuration	</a:t>
            </a:r>
            <a:r>
              <a:rPr lang="fr-FR" sz="1600" i="1" dirty="0" err="1">
                <a:solidFill>
                  <a:srgbClr val="FF0000"/>
                </a:solidFill>
                <a:latin typeface=".AppleSystemUIFont"/>
              </a:rPr>
              <a:t>sudo</a:t>
            </a:r>
            <a:r>
              <a:rPr lang="fr-FR" sz="1600" i="1" dirty="0">
                <a:solidFill>
                  <a:srgbClr val="FF0000"/>
                </a:solidFill>
                <a:latin typeface=".AppleSystemUIFont"/>
              </a:rPr>
              <a:t> nano /</a:t>
            </a:r>
            <a:r>
              <a:rPr lang="fr-FR" sz="1600" i="1" dirty="0" err="1">
                <a:solidFill>
                  <a:srgbClr val="FF0000"/>
                </a:solidFill>
                <a:latin typeface=".AppleSystemUIFont"/>
              </a:rPr>
              <a:t>etc</a:t>
            </a:r>
            <a:r>
              <a:rPr lang="fr-FR" sz="1600" i="1" dirty="0">
                <a:solidFill>
                  <a:srgbClr val="FF0000"/>
                </a:solidFill>
                <a:latin typeface=".AppleSystemUIFont"/>
              </a:rPr>
              <a:t>/</a:t>
            </a:r>
            <a:r>
              <a:rPr lang="fr-FR" sz="1600" i="1" dirty="0" err="1">
                <a:solidFill>
                  <a:srgbClr val="FF0000"/>
                </a:solidFill>
                <a:latin typeface=".AppleSystemUIFont"/>
              </a:rPr>
              <a:t>logrotate.d</a:t>
            </a:r>
            <a:r>
              <a:rPr lang="fr-FR" sz="1600" i="1" dirty="0">
                <a:solidFill>
                  <a:srgbClr val="FF0000"/>
                </a:solidFill>
                <a:latin typeface=".AppleSystemUIFont"/>
              </a:rPr>
              <a:t>/warnings</a:t>
            </a:r>
          </a:p>
          <a:p>
            <a:pPr>
              <a:spcBef>
                <a:spcPts val="900"/>
              </a:spcBef>
            </a:pPr>
            <a:endParaRPr lang="fr-FR" sz="1600" i="1" dirty="0">
              <a:solidFill>
                <a:srgbClr val="FF0000"/>
              </a:solidFill>
              <a:latin typeface=".AppleSystemUIFont"/>
            </a:endParaRPr>
          </a:p>
          <a:p>
            <a:pPr>
              <a:spcBef>
                <a:spcPts val="900"/>
              </a:spcBef>
            </a:pPr>
            <a:r>
              <a:rPr lang="fr-FR" sz="1600" dirty="0">
                <a:solidFill>
                  <a:srgbClr val="FF0000"/>
                </a:solidFill>
                <a:effectLst/>
                <a:latin typeface=".AppleSystemUIFont"/>
              </a:rPr>
              <a:t>	Ajouter </a:t>
            </a:r>
            <a:r>
              <a:rPr lang="fr-FR" sz="1600" i="1" dirty="0">
                <a:solidFill>
                  <a:srgbClr val="FF0000"/>
                </a:solidFill>
                <a:latin typeface=".AppleSystemUIFont"/>
              </a:rPr>
              <a:t>				</a:t>
            </a:r>
            <a:r>
              <a:rPr lang="fr-FR" sz="1600" i="1" dirty="0">
                <a:solidFill>
                  <a:srgbClr val="FF0000"/>
                </a:solidFill>
                <a:effectLst/>
                <a:latin typeface=".AppleSystemUIFont"/>
              </a:rPr>
              <a:t>/var/log/</a:t>
            </a:r>
            <a:r>
              <a:rPr lang="fr-FR" sz="1600" i="1" dirty="0" err="1">
                <a:solidFill>
                  <a:srgbClr val="FF0000"/>
                </a:solidFill>
                <a:effectLst/>
                <a:latin typeface=".AppleSystemUIFont"/>
              </a:rPr>
              <a:t>warnings.log</a:t>
            </a:r>
            <a:r>
              <a:rPr lang="fr-FR" sz="1600" i="1" dirty="0">
                <a:solidFill>
                  <a:srgbClr val="FF0000"/>
                </a:solidFill>
                <a:effectLst/>
                <a:latin typeface=".AppleSystemUIFont"/>
              </a:rPr>
              <a:t> {</a:t>
            </a:r>
          </a:p>
          <a:p>
            <a:pPr algn="ctr"/>
            <a:r>
              <a:rPr lang="fr-FR" sz="1600" i="1" dirty="0">
                <a:solidFill>
                  <a:srgbClr val="FF0000"/>
                </a:solidFill>
                <a:effectLst/>
                <a:latin typeface=".AppleSystemUIFont"/>
              </a:rPr>
              <a:t>   	 		 size 10M</a:t>
            </a:r>
          </a:p>
          <a:p>
            <a:pPr algn="ctr"/>
            <a:r>
              <a:rPr lang="fr-FR" sz="1600" i="1" dirty="0">
                <a:solidFill>
                  <a:srgbClr val="FF0000"/>
                </a:solidFill>
                <a:effectLst/>
                <a:latin typeface=".AppleSystemUIFont"/>
              </a:rPr>
              <a:t>  			</a:t>
            </a:r>
            <a:r>
              <a:rPr lang="fr-FR" sz="1600" i="1" dirty="0" err="1">
                <a:solidFill>
                  <a:srgbClr val="FF0000"/>
                </a:solidFill>
                <a:effectLst/>
                <a:latin typeface=".AppleSystemUIFont"/>
              </a:rPr>
              <a:t>rotate</a:t>
            </a:r>
            <a:r>
              <a:rPr lang="fr-FR" sz="1600" i="1" dirty="0">
                <a:solidFill>
                  <a:srgbClr val="FF0000"/>
                </a:solidFill>
                <a:effectLst/>
                <a:latin typeface=".AppleSystemUIFont"/>
              </a:rPr>
              <a:t> 5</a:t>
            </a:r>
          </a:p>
          <a:p>
            <a:pPr algn="ctr"/>
            <a:r>
              <a:rPr lang="fr-FR" sz="1600" i="1" dirty="0">
                <a:solidFill>
                  <a:srgbClr val="FF0000"/>
                </a:solidFill>
                <a:effectLst/>
                <a:latin typeface=".AppleSystemUIFont"/>
              </a:rPr>
              <a:t>   			  </a:t>
            </a:r>
            <a:r>
              <a:rPr lang="fr-FR" sz="1600" i="1" dirty="0" err="1">
                <a:solidFill>
                  <a:srgbClr val="FF0000"/>
                </a:solidFill>
                <a:effectLst/>
                <a:latin typeface=".AppleSystemUIFont"/>
              </a:rPr>
              <a:t>compress</a:t>
            </a:r>
            <a:endParaRPr lang="fr-FR" sz="1600" i="1" dirty="0">
              <a:solidFill>
                <a:srgbClr val="FF0000"/>
              </a:solidFill>
              <a:effectLst/>
              <a:latin typeface=".AppleSystemUIFont"/>
            </a:endParaRPr>
          </a:p>
          <a:p>
            <a:pPr algn="ctr"/>
            <a:r>
              <a:rPr lang="fr-FR" sz="1600" i="1" dirty="0">
                <a:solidFill>
                  <a:srgbClr val="FF0000"/>
                </a:solidFill>
                <a:effectLst/>
                <a:latin typeface=".AppleSystemUIFont"/>
              </a:rPr>
              <a:t>   			  </a:t>
            </a:r>
            <a:r>
              <a:rPr lang="fr-FR" sz="1600" i="1" dirty="0" err="1">
                <a:solidFill>
                  <a:srgbClr val="FF0000"/>
                </a:solidFill>
                <a:effectLst/>
                <a:latin typeface=".AppleSystemUIFont"/>
              </a:rPr>
              <a:t>missingok</a:t>
            </a:r>
            <a:endParaRPr lang="fr-FR" sz="1600" i="1" dirty="0">
              <a:solidFill>
                <a:srgbClr val="FF0000"/>
              </a:solidFill>
              <a:effectLst/>
              <a:latin typeface=".AppleSystemUIFont"/>
            </a:endParaRPr>
          </a:p>
          <a:p>
            <a:pPr algn="ctr"/>
            <a:r>
              <a:rPr lang="fr-FR" sz="1600" i="1" dirty="0">
                <a:solidFill>
                  <a:srgbClr val="FF0000"/>
                </a:solidFill>
                <a:effectLst/>
                <a:latin typeface=".AppleSystemUIFont"/>
              </a:rPr>
              <a:t>    			   </a:t>
            </a:r>
            <a:r>
              <a:rPr lang="fr-FR" sz="1600" i="1" dirty="0" err="1">
                <a:solidFill>
                  <a:srgbClr val="FF0000"/>
                </a:solidFill>
                <a:effectLst/>
                <a:latin typeface=".AppleSystemUIFont"/>
              </a:rPr>
              <a:t>notifempty</a:t>
            </a:r>
            <a:endParaRPr lang="fr-FR" sz="1600" i="1" dirty="0">
              <a:solidFill>
                <a:srgbClr val="FF0000"/>
              </a:solidFill>
              <a:effectLst/>
              <a:latin typeface=".AppleSystemUIFont"/>
            </a:endParaRPr>
          </a:p>
          <a:p>
            <a:pPr algn="ctr"/>
            <a:r>
              <a:rPr lang="fr-FR" sz="1600" i="1" dirty="0">
                <a:solidFill>
                  <a:srgbClr val="FF0000"/>
                </a:solidFill>
                <a:effectLst/>
                <a:latin typeface=".AppleSystemUIFont"/>
              </a:rPr>
              <a:t>    	   			  </a:t>
            </a:r>
            <a:r>
              <a:rPr lang="fr-FR" sz="1600" i="1" dirty="0" err="1">
                <a:solidFill>
                  <a:srgbClr val="FF0000"/>
                </a:solidFill>
                <a:effectLst/>
                <a:latin typeface=".AppleSystemUIFont"/>
              </a:rPr>
              <a:t>create</a:t>
            </a:r>
            <a:r>
              <a:rPr lang="fr-FR" sz="1600" i="1" dirty="0">
                <a:solidFill>
                  <a:srgbClr val="FF0000"/>
                </a:solidFill>
                <a:effectLst/>
                <a:latin typeface=".AppleSystemUIFont"/>
              </a:rPr>
              <a:t> 640 root root 	}</a:t>
            </a:r>
          </a:p>
          <a:p>
            <a:pPr algn="ctr"/>
            <a:endParaRPr lang="fr-FR" sz="1600" i="1" dirty="0">
              <a:solidFill>
                <a:srgbClr val="FF0000"/>
              </a:solidFill>
              <a:effectLst/>
              <a:latin typeface=".AppleSystemUIFont"/>
            </a:endParaRPr>
          </a:p>
          <a:p>
            <a:pPr algn="ctr"/>
            <a:endParaRPr lang="fr-FR" sz="1600" dirty="0">
              <a:solidFill>
                <a:srgbClr val="FF0000"/>
              </a:solidFill>
              <a:effectLst/>
              <a:latin typeface=".AppleSystemUIFont"/>
            </a:endParaRPr>
          </a:p>
          <a:p>
            <a:pPr>
              <a:spcBef>
                <a:spcPts val="900"/>
              </a:spcBef>
            </a:pPr>
            <a:r>
              <a:rPr lang="fr-FR" sz="1600" dirty="0">
                <a:solidFill>
                  <a:srgbClr val="FF0000"/>
                </a:solidFill>
                <a:latin typeface=".AppleSystemUIFont"/>
              </a:rPr>
              <a:t>	Pour tester 			</a:t>
            </a:r>
            <a:r>
              <a:rPr lang="fr-FR" sz="1600" i="1" dirty="0" err="1">
                <a:solidFill>
                  <a:srgbClr val="FF0000"/>
                </a:solidFill>
                <a:effectLst/>
                <a:latin typeface=".AppleSystemUIFont"/>
              </a:rPr>
              <a:t>sudo</a:t>
            </a:r>
            <a:r>
              <a:rPr lang="fr-FR" sz="1600" i="1" dirty="0">
                <a:solidFill>
                  <a:srgbClr val="FF0000"/>
                </a:solidFill>
                <a:effectLst/>
                <a:latin typeface=".AppleSystemUIFont"/>
              </a:rPr>
              <a:t> </a:t>
            </a:r>
            <a:r>
              <a:rPr lang="fr-FR" sz="1600" i="1" dirty="0" err="1">
                <a:solidFill>
                  <a:srgbClr val="FF0000"/>
                </a:solidFill>
                <a:effectLst/>
                <a:latin typeface=".AppleSystemUIFont"/>
              </a:rPr>
              <a:t>logrotate</a:t>
            </a:r>
            <a:r>
              <a:rPr lang="fr-FR" sz="1600" i="1" dirty="0">
                <a:solidFill>
                  <a:srgbClr val="FF0000"/>
                </a:solidFill>
                <a:effectLst/>
                <a:latin typeface=".AppleSystemUIFont"/>
              </a:rPr>
              <a:t> -d /</a:t>
            </a:r>
            <a:r>
              <a:rPr lang="fr-FR" sz="1600" i="1" dirty="0" err="1">
                <a:solidFill>
                  <a:srgbClr val="FF0000"/>
                </a:solidFill>
                <a:effectLst/>
                <a:latin typeface=".AppleSystemUIFont"/>
              </a:rPr>
              <a:t>etc</a:t>
            </a:r>
            <a:r>
              <a:rPr lang="fr-FR" sz="1600" i="1" dirty="0">
                <a:solidFill>
                  <a:srgbClr val="FF0000"/>
                </a:solidFill>
                <a:effectLst/>
                <a:latin typeface=".AppleSystemUIFont"/>
              </a:rPr>
              <a:t>/</a:t>
            </a:r>
            <a:r>
              <a:rPr lang="fr-FR" sz="1600" i="1" dirty="0" err="1">
                <a:solidFill>
                  <a:srgbClr val="FF0000"/>
                </a:solidFill>
                <a:effectLst/>
                <a:latin typeface=".AppleSystemUIFont"/>
              </a:rPr>
              <a:t>logrotate.conf</a:t>
            </a:r>
            <a:endParaRPr lang="fr-FR" sz="1600" i="1" dirty="0">
              <a:solidFill>
                <a:srgbClr val="FF0000"/>
              </a:solidFill>
              <a:effectLst/>
              <a:latin typeface=".AppleSystemUIFont"/>
            </a:endParaRPr>
          </a:p>
          <a:p>
            <a:pPr>
              <a:spcBef>
                <a:spcPts val="900"/>
              </a:spcBef>
            </a:pPr>
            <a:endParaRPr lang="fr-FR" sz="1600" i="1" dirty="0">
              <a:solidFill>
                <a:srgbClr val="FF0000"/>
              </a:solidFill>
              <a:effectLst/>
              <a:latin typeface=".AppleSystemUIFont"/>
            </a:endParaRPr>
          </a:p>
          <a:p>
            <a:endParaRPr lang="fr-FR" sz="1600" dirty="0">
              <a:solidFill>
                <a:srgbClr val="FF0000"/>
              </a:solidFill>
            </a:endParaRPr>
          </a:p>
          <a:p>
            <a:r>
              <a:rPr lang="fr-FR" sz="1600" dirty="0">
                <a:solidFill>
                  <a:srgbClr val="FF0000"/>
                </a:solidFill>
              </a:rPr>
              <a:t>	Appliquer la rotation			</a:t>
            </a:r>
            <a:r>
              <a:rPr lang="fr-FR" sz="1600" i="1" dirty="0" err="1">
                <a:solidFill>
                  <a:srgbClr val="FF0000"/>
                </a:solidFill>
              </a:rPr>
              <a:t>sudo</a:t>
            </a:r>
            <a:r>
              <a:rPr lang="fr-FR" sz="1600" i="1" dirty="0">
                <a:solidFill>
                  <a:srgbClr val="FF0000"/>
                </a:solidFill>
              </a:rPr>
              <a:t> </a:t>
            </a:r>
            <a:r>
              <a:rPr lang="fr-FR" sz="1600" i="1" dirty="0" err="1">
                <a:solidFill>
                  <a:srgbClr val="FF0000"/>
                </a:solidFill>
              </a:rPr>
              <a:t>logrotate</a:t>
            </a:r>
            <a:r>
              <a:rPr lang="fr-FR" sz="1600" i="1" dirty="0">
                <a:solidFill>
                  <a:srgbClr val="FF0000"/>
                </a:solidFill>
              </a:rPr>
              <a:t> /</a:t>
            </a:r>
            <a:r>
              <a:rPr lang="fr-FR" sz="1600" i="1" dirty="0" err="1">
                <a:solidFill>
                  <a:srgbClr val="FF0000"/>
                </a:solidFill>
              </a:rPr>
              <a:t>etc</a:t>
            </a:r>
            <a:r>
              <a:rPr lang="fr-FR" sz="1600" i="1" dirty="0">
                <a:solidFill>
                  <a:srgbClr val="FF0000"/>
                </a:solidFill>
              </a:rPr>
              <a:t>/</a:t>
            </a:r>
            <a:r>
              <a:rPr lang="fr-FR" sz="1600" i="1" dirty="0" err="1">
                <a:solidFill>
                  <a:srgbClr val="FF0000"/>
                </a:solidFill>
              </a:rPr>
              <a:t>logrotate.conf</a:t>
            </a:r>
            <a:endParaRPr lang="fr-FR" i="1" dirty="0">
              <a:solidFill>
                <a:srgbClr val="FF0000"/>
              </a:solidFill>
            </a:endParaRPr>
          </a:p>
        </p:txBody>
      </p:sp>
    </p:spTree>
    <p:extLst>
      <p:ext uri="{BB962C8B-B14F-4D97-AF65-F5344CB8AC3E}">
        <p14:creationId xmlns:p14="http://schemas.microsoft.com/office/powerpoint/2010/main" val="199652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9DCE4-3A43-7593-03BD-910E2FCE426D}"/>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79F1DDD5-C324-9D09-9D4E-5046E94E194E}"/>
              </a:ext>
            </a:extLst>
          </p:cNvPr>
          <p:cNvSpPr txBox="1"/>
          <p:nvPr/>
        </p:nvSpPr>
        <p:spPr>
          <a:xfrm>
            <a:off x="162046" y="300941"/>
            <a:ext cx="11655706" cy="6555641"/>
          </a:xfrm>
          <a:prstGeom prst="rect">
            <a:avLst/>
          </a:prstGeom>
          <a:noFill/>
        </p:spPr>
        <p:txBody>
          <a:bodyPr wrap="square" rtlCol="0">
            <a:spAutoFit/>
          </a:bodyPr>
          <a:lstStyle/>
          <a:p>
            <a:pPr algn="ctr"/>
            <a:r>
              <a:rPr lang="fr-FR" b="1" dirty="0">
                <a:effectLst/>
                <a:latin typeface="Arial" panose="020B0604020202020204" pitchFamily="34" charset="0"/>
                <a:ea typeface="Calibri" panose="020F0502020204030204" pitchFamily="34" charset="0"/>
                <a:cs typeface="Arial" panose="020B0604020202020204" pitchFamily="34" charset="0"/>
              </a:rPr>
              <a:t>Présentation de Syslog et de </a:t>
            </a:r>
            <a:r>
              <a:rPr lang="fr-FR" b="1" dirty="0" err="1">
                <a:effectLst/>
                <a:latin typeface="Arial" panose="020B0604020202020204" pitchFamily="34" charset="0"/>
                <a:ea typeface="Calibri" panose="020F0502020204030204" pitchFamily="34" charset="0"/>
                <a:cs typeface="Arial" panose="020B0604020202020204" pitchFamily="34" charset="0"/>
              </a:rPr>
              <a:t>Rsyslog</a:t>
            </a:r>
            <a:endParaRPr lang="fr-FR" b="1" dirty="0">
              <a:effectLst/>
              <a:latin typeface="Arial" panose="020B0604020202020204" pitchFamily="34" charset="0"/>
              <a:ea typeface="Calibri" panose="020F0502020204030204" pitchFamily="34" charset="0"/>
              <a:cs typeface="Arial" panose="020B0604020202020204" pitchFamily="34" charset="0"/>
            </a:endParaRPr>
          </a:p>
          <a:p>
            <a:pPr algn="just"/>
            <a:endParaRPr lang="fr-FR" b="1" dirty="0">
              <a:solidFill>
                <a:srgbClr val="0E0E0E"/>
              </a:solidFill>
              <a:latin typeface="Arial" panose="020B0604020202020204" pitchFamily="34" charset="0"/>
              <a:cs typeface="Arial" panose="020B0604020202020204" pitchFamily="34" charset="0"/>
            </a:endParaRPr>
          </a:p>
          <a:p>
            <a:pPr algn="just"/>
            <a:r>
              <a:rPr lang="fr-FR" b="1" dirty="0" err="1">
                <a:solidFill>
                  <a:srgbClr val="0E0E0E"/>
                </a:solidFill>
                <a:effectLst/>
                <a:latin typeface="Arial" panose="020B0604020202020204" pitchFamily="34" charset="0"/>
                <a:cs typeface="Arial" panose="020B0604020202020204" pitchFamily="34" charset="0"/>
              </a:rPr>
              <a:t>syslog</a:t>
            </a:r>
            <a:r>
              <a:rPr lang="fr-FR" dirty="0">
                <a:solidFill>
                  <a:srgbClr val="0E0E0E"/>
                </a:solidFill>
                <a:effectLst/>
                <a:latin typeface="Arial" panose="020B0604020202020204" pitchFamily="34" charset="0"/>
                <a:cs typeface="Arial" panose="020B0604020202020204" pitchFamily="34" charset="0"/>
              </a:rPr>
              <a:t> et </a:t>
            </a:r>
            <a:r>
              <a:rPr lang="fr-FR" b="1" dirty="0" err="1">
                <a:solidFill>
                  <a:srgbClr val="0E0E0E"/>
                </a:solidFill>
                <a:effectLst/>
                <a:latin typeface="Arial" panose="020B0604020202020204" pitchFamily="34" charset="0"/>
                <a:cs typeface="Arial" panose="020B0604020202020204" pitchFamily="34" charset="0"/>
              </a:rPr>
              <a:t>rsyslog</a:t>
            </a:r>
            <a:r>
              <a:rPr lang="fr-FR" dirty="0">
                <a:solidFill>
                  <a:srgbClr val="0E0E0E"/>
                </a:solidFill>
                <a:effectLst/>
                <a:latin typeface="Arial" panose="020B0604020202020204" pitchFamily="34" charset="0"/>
                <a:cs typeface="Arial" panose="020B0604020202020204" pitchFamily="34" charset="0"/>
              </a:rPr>
              <a:t> sont deux systèmes de gestion et de traitement des journaux sous Unix/Linux. Ils partagent des fonctionnalités de base, mais diffèrent par leurs capacités et leur utilisation.</a:t>
            </a:r>
          </a:p>
          <a:p>
            <a:pPr algn="just"/>
            <a:endParaRPr lang="fr-FR" dirty="0">
              <a:solidFill>
                <a:srgbClr val="0E0E0E"/>
              </a:solidFill>
              <a:effectLst/>
              <a:latin typeface="Arial" panose="020B0604020202020204" pitchFamily="34" charset="0"/>
              <a:cs typeface="Arial" panose="020B0604020202020204" pitchFamily="34" charset="0"/>
            </a:endParaRPr>
          </a:p>
          <a:p>
            <a:r>
              <a:rPr lang="fr-FR" b="1" dirty="0">
                <a:solidFill>
                  <a:srgbClr val="0E0E0E"/>
                </a:solidFill>
                <a:effectLst/>
                <a:latin typeface="Arial" panose="020B0604020202020204" pitchFamily="34" charset="0"/>
                <a:cs typeface="Arial" panose="020B0604020202020204" pitchFamily="34" charset="0"/>
              </a:rPr>
              <a:t> </a:t>
            </a:r>
            <a:r>
              <a:rPr lang="fr-FR" b="1" dirty="0" err="1">
                <a:solidFill>
                  <a:srgbClr val="0E0E0E"/>
                </a:solidFill>
                <a:effectLst/>
                <a:latin typeface="Arial" panose="020B0604020202020204" pitchFamily="34" charset="0"/>
                <a:cs typeface="Arial" panose="020B0604020202020204" pitchFamily="34" charset="0"/>
              </a:rPr>
              <a:t>Rsyslog</a:t>
            </a:r>
            <a:endParaRPr lang="fr-FR" dirty="0">
              <a:solidFill>
                <a:srgbClr val="0E0E0E"/>
              </a:solidFill>
              <a:effectLst/>
              <a:latin typeface="Arial" panose="020B0604020202020204" pitchFamily="34" charset="0"/>
              <a:cs typeface="Arial" panose="020B0604020202020204" pitchFamily="34" charset="0"/>
            </a:endParaRPr>
          </a:p>
          <a:p>
            <a:r>
              <a:rPr lang="fr-FR" dirty="0">
                <a:solidFill>
                  <a:srgbClr val="0E0E0E"/>
                </a:solidFill>
                <a:effectLst/>
                <a:latin typeface="Arial" panose="020B0604020202020204" pitchFamily="34" charset="0"/>
                <a:cs typeface="Arial" panose="020B0604020202020204" pitchFamily="34" charset="0"/>
              </a:rPr>
              <a:t> </a:t>
            </a:r>
            <a:r>
              <a:rPr lang="fr-FR" dirty="0" err="1">
                <a:solidFill>
                  <a:srgbClr val="0E0E0E"/>
                </a:solidFill>
                <a:effectLst/>
                <a:latin typeface="Arial" panose="020B0604020202020204" pitchFamily="34" charset="0"/>
                <a:cs typeface="Arial" panose="020B0604020202020204" pitchFamily="34" charset="0"/>
              </a:rPr>
              <a:t>rsyslog</a:t>
            </a:r>
            <a:r>
              <a:rPr lang="fr-FR" dirty="0">
                <a:solidFill>
                  <a:srgbClr val="0E0E0E"/>
                </a:solidFill>
                <a:effectLst/>
                <a:latin typeface="Arial" panose="020B0604020202020204" pitchFamily="34" charset="0"/>
                <a:cs typeface="Arial" panose="020B0604020202020204" pitchFamily="34" charset="0"/>
              </a:rPr>
              <a:t> est une version améliorée et enrichie de </a:t>
            </a:r>
            <a:r>
              <a:rPr lang="fr-FR" dirty="0" err="1">
                <a:solidFill>
                  <a:srgbClr val="0E0E0E"/>
                </a:solidFill>
                <a:effectLst/>
                <a:latin typeface="Arial" panose="020B0604020202020204" pitchFamily="34" charset="0"/>
                <a:cs typeface="Arial" panose="020B0604020202020204" pitchFamily="34" charset="0"/>
              </a:rPr>
              <a:t>syslog</a:t>
            </a:r>
            <a:r>
              <a:rPr lang="fr-FR" dirty="0">
                <a:solidFill>
                  <a:srgbClr val="0E0E0E"/>
                </a:solidFill>
                <a:effectLst/>
                <a:latin typeface="Arial" panose="020B0604020202020204" pitchFamily="34" charset="0"/>
                <a:cs typeface="Arial" panose="020B0604020202020204" pitchFamily="34" charset="0"/>
              </a:rPr>
              <a:t>, introduite pour combler ses limitations et répondre aux besoins modernes.</a:t>
            </a:r>
          </a:p>
          <a:p>
            <a:pPr marL="304800"/>
            <a:br>
              <a:rPr lang="fr-FR" dirty="0">
                <a:solidFill>
                  <a:srgbClr val="0E0E0E"/>
                </a:solidFill>
                <a:effectLst/>
                <a:latin typeface="Arial" panose="020B0604020202020204" pitchFamily="34" charset="0"/>
                <a:cs typeface="Arial" panose="020B0604020202020204" pitchFamily="34" charset="0"/>
              </a:rPr>
            </a:b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Compatibilité ascendante</a:t>
            </a:r>
            <a:r>
              <a:rPr lang="fr-FR" dirty="0">
                <a:solidFill>
                  <a:srgbClr val="0E0E0E"/>
                </a:solidFill>
                <a:effectLst/>
                <a:latin typeface="Arial" panose="020B0604020202020204" pitchFamily="34" charset="0"/>
                <a:cs typeface="Arial" panose="020B0604020202020204" pitchFamily="34" charset="0"/>
              </a:rPr>
              <a:t> : Peut utiliser les configurations de </a:t>
            </a:r>
            <a:r>
              <a:rPr lang="fr-FR" dirty="0" err="1">
                <a:solidFill>
                  <a:srgbClr val="0E0E0E"/>
                </a:solidFill>
                <a:effectLst/>
                <a:latin typeface="Arial" panose="020B0604020202020204" pitchFamily="34" charset="0"/>
                <a:cs typeface="Arial" panose="020B0604020202020204" pitchFamily="34" charset="0"/>
              </a:rPr>
              <a:t>syslog</a:t>
            </a:r>
            <a:r>
              <a:rPr lang="fr-FR" dirty="0">
                <a:solidFill>
                  <a:srgbClr val="0E0E0E"/>
                </a:solidFill>
                <a:effectLst/>
                <a:latin typeface="Arial" panose="020B0604020202020204" pitchFamily="34" charset="0"/>
                <a:cs typeface="Arial" panose="020B0604020202020204" pitchFamily="34" charset="0"/>
              </a:rPr>
              <a:t> (/</a:t>
            </a:r>
            <a:r>
              <a:rPr lang="fr-FR" dirty="0" err="1">
                <a:solidFill>
                  <a:srgbClr val="0E0E0E"/>
                </a:solidFill>
                <a:effectLst/>
                <a:latin typeface="Arial" panose="020B0604020202020204" pitchFamily="34" charset="0"/>
                <a:cs typeface="Arial" panose="020B0604020202020204" pitchFamily="34" charset="0"/>
              </a:rPr>
              <a:t>etc</a:t>
            </a:r>
            <a:r>
              <a:rPr lang="fr-FR" dirty="0">
                <a:solidFill>
                  <a:srgbClr val="0E0E0E"/>
                </a:solidFill>
                <a:effectLst/>
                <a:latin typeface="Arial" panose="020B0604020202020204" pitchFamily="34" charset="0"/>
                <a:cs typeface="Arial" panose="020B0604020202020204" pitchFamily="34" charset="0"/>
              </a:rPr>
              <a:t>/</a:t>
            </a:r>
            <a:r>
              <a:rPr lang="fr-FR" dirty="0" err="1">
                <a:solidFill>
                  <a:srgbClr val="0E0E0E"/>
                </a:solidFill>
                <a:effectLst/>
                <a:latin typeface="Arial" panose="020B0604020202020204" pitchFamily="34" charset="0"/>
                <a:cs typeface="Arial" panose="020B0604020202020204" pitchFamily="34" charset="0"/>
              </a:rPr>
              <a:t>syslog.conf</a:t>
            </a:r>
            <a:r>
              <a:rPr lang="fr-FR" dirty="0">
                <a:solidFill>
                  <a:srgbClr val="0E0E0E"/>
                </a:solidFill>
                <a:effectLst/>
                <a:latin typeface="Arial" panose="020B0604020202020204" pitchFamily="34" charset="0"/>
                <a:cs typeface="Arial" panose="020B0604020202020204" pitchFamily="34" charset="0"/>
              </a:rPr>
              <a:t>), mais utilise généralement /</a:t>
            </a:r>
            <a:r>
              <a:rPr lang="fr-FR" dirty="0" err="1">
                <a:solidFill>
                  <a:srgbClr val="0E0E0E"/>
                </a:solidFill>
                <a:effectLst/>
                <a:latin typeface="Arial" panose="020B0604020202020204" pitchFamily="34" charset="0"/>
                <a:cs typeface="Arial" panose="020B0604020202020204" pitchFamily="34" charset="0"/>
              </a:rPr>
              <a:t>etc</a:t>
            </a:r>
            <a:r>
              <a:rPr lang="fr-FR" dirty="0">
                <a:solidFill>
                  <a:srgbClr val="0E0E0E"/>
                </a:solidFill>
                <a:effectLst/>
                <a:latin typeface="Arial" panose="020B0604020202020204" pitchFamily="34" charset="0"/>
                <a:cs typeface="Arial" panose="020B0604020202020204" pitchFamily="34" charset="0"/>
              </a:rPr>
              <a:t>/</a:t>
            </a:r>
            <a:r>
              <a:rPr lang="fr-FR" dirty="0" err="1">
                <a:solidFill>
                  <a:srgbClr val="0E0E0E"/>
                </a:solidFill>
                <a:effectLst/>
                <a:latin typeface="Arial" panose="020B0604020202020204" pitchFamily="34" charset="0"/>
                <a:cs typeface="Arial" panose="020B0604020202020204" pitchFamily="34" charset="0"/>
              </a:rPr>
              <a:t>rsyslog.conf</a:t>
            </a:r>
            <a:r>
              <a:rPr lang="fr-FR" dirty="0">
                <a:solidFill>
                  <a:srgbClr val="0E0E0E"/>
                </a:solidFill>
                <a:effectLst/>
                <a:latin typeface="Arial" panose="020B0604020202020204" pitchFamily="34" charset="0"/>
                <a:cs typeface="Arial" panose="020B0604020202020204" pitchFamily="34" charset="0"/>
              </a:rPr>
              <a:t>.</a:t>
            </a:r>
          </a:p>
          <a:p>
            <a:pPr marL="3048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Protocole avancé</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Supporte les protocoles Syslog modernes comme RFC 5424 (plus robuste que RFC 3164).</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Utilise UDP, TCP, et TLS pour une communication sécurisée.</a:t>
            </a:r>
          </a:p>
          <a:p>
            <a:pPr marL="3048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Puissance et extensibilité</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Capable de traiter de très grands volumes de journaux.</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Peut écrire les journaux dans des bases de données (MySQL, PostgreSQL) ou les envoyer à des systèmes centralisés.</a:t>
            </a:r>
          </a:p>
          <a:p>
            <a:pPr marL="3048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Filtres avancés</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Supporte des règles complexes basées sur des expressions régulières ou des conditions spécifiques.</a:t>
            </a:r>
          </a:p>
        </p:txBody>
      </p:sp>
    </p:spTree>
    <p:extLst>
      <p:ext uri="{BB962C8B-B14F-4D97-AF65-F5344CB8AC3E}">
        <p14:creationId xmlns:p14="http://schemas.microsoft.com/office/powerpoint/2010/main" val="158190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FB93A-0FDC-36C7-8E23-414180CF9D2B}"/>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3E4FF3ED-25A5-D437-BF58-7F7BE13B68F3}"/>
              </a:ext>
            </a:extLst>
          </p:cNvPr>
          <p:cNvSpPr txBox="1"/>
          <p:nvPr/>
        </p:nvSpPr>
        <p:spPr>
          <a:xfrm>
            <a:off x="162046" y="300941"/>
            <a:ext cx="11655706" cy="3785652"/>
          </a:xfrm>
          <a:prstGeom prst="rect">
            <a:avLst/>
          </a:prstGeom>
          <a:noFill/>
        </p:spPr>
        <p:txBody>
          <a:bodyPr wrap="square" rtlCol="0">
            <a:spAutoFit/>
          </a:bodyPr>
          <a:lstStyle/>
          <a:p>
            <a:pPr algn="ctr"/>
            <a:r>
              <a:rPr lang="fr-FR" b="1" dirty="0">
                <a:effectLst/>
                <a:latin typeface="Arial" panose="020B0604020202020204" pitchFamily="34" charset="0"/>
                <a:ea typeface="Calibri" panose="020F0502020204030204" pitchFamily="34" charset="0"/>
                <a:cs typeface="Arial" panose="020B0604020202020204" pitchFamily="34" charset="0"/>
              </a:rPr>
              <a:t>Syslog et </a:t>
            </a:r>
            <a:r>
              <a:rPr lang="fr-FR" b="1" dirty="0" err="1">
                <a:effectLst/>
                <a:latin typeface="Arial" panose="020B0604020202020204" pitchFamily="34" charset="0"/>
                <a:ea typeface="Calibri" panose="020F0502020204030204" pitchFamily="34" charset="0"/>
                <a:cs typeface="Arial" panose="020B0604020202020204" pitchFamily="34" charset="0"/>
              </a:rPr>
              <a:t>Rsyslog</a:t>
            </a:r>
            <a:endParaRPr lang="fr-FR" b="1" dirty="0">
              <a:effectLst/>
              <a:latin typeface="Arial" panose="020B0604020202020204" pitchFamily="34" charset="0"/>
              <a:ea typeface="Calibri" panose="020F0502020204030204" pitchFamily="34" charset="0"/>
              <a:cs typeface="Arial" panose="020B0604020202020204" pitchFamily="34" charset="0"/>
            </a:endParaRPr>
          </a:p>
          <a:p>
            <a:pPr algn="just"/>
            <a:endParaRPr lang="fr-FR" b="1" dirty="0">
              <a:solidFill>
                <a:srgbClr val="0E0E0E"/>
              </a:solidFill>
              <a:latin typeface="Arial" panose="020B0604020202020204" pitchFamily="34" charset="0"/>
              <a:cs typeface="Arial" panose="020B0604020202020204" pitchFamily="34" charset="0"/>
            </a:endParaRPr>
          </a:p>
          <a:p>
            <a:pPr marL="3556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Modules supplémentaires</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Peut ajouter des fonctionnalités via des modules (ex. </a:t>
            </a:r>
            <a:r>
              <a:rPr lang="fr-FR" dirty="0" err="1">
                <a:solidFill>
                  <a:srgbClr val="0E0E0E"/>
                </a:solidFill>
                <a:effectLst/>
                <a:latin typeface="Arial" panose="020B0604020202020204" pitchFamily="34" charset="0"/>
                <a:cs typeface="Arial" panose="020B0604020202020204" pitchFamily="34" charset="0"/>
              </a:rPr>
              <a:t>ommysql</a:t>
            </a:r>
            <a:r>
              <a:rPr lang="fr-FR" dirty="0">
                <a:solidFill>
                  <a:srgbClr val="0E0E0E"/>
                </a:solidFill>
                <a:effectLst/>
                <a:latin typeface="Arial" panose="020B0604020202020204" pitchFamily="34" charset="0"/>
                <a:cs typeface="Arial" panose="020B0604020202020204" pitchFamily="34" charset="0"/>
              </a:rPr>
              <a:t> pour MySQL).</a:t>
            </a:r>
          </a:p>
          <a:p>
            <a:pPr marL="3556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Performance améliorée</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Optimisé pour les environnements à forte intensité de journalisation.</a:t>
            </a:r>
          </a:p>
          <a:p>
            <a:pPr marL="3556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Journalisation structurée</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Supporte des formats comme JSON pour des intégrations modernes.</a:t>
            </a:r>
          </a:p>
          <a:p>
            <a:pPr marL="3556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rial" panose="020B0604020202020204" pitchFamily="34" charset="0"/>
                <a:cs typeface="Arial" panose="020B0604020202020204" pitchFamily="34" charset="0"/>
              </a:rPr>
              <a:t>Gestion centralisée</a:t>
            </a:r>
            <a:r>
              <a:rPr lang="fr-FR" dirty="0">
                <a:solidFill>
                  <a:srgbClr val="0E0E0E"/>
                </a:solidFill>
                <a:effectLst/>
                <a:latin typeface="Arial" panose="020B0604020202020204" pitchFamily="34" charset="0"/>
                <a:cs typeface="Arial" panose="020B0604020202020204" pitchFamily="34" charset="0"/>
              </a:rPr>
              <a:t> :</a:t>
            </a:r>
          </a:p>
          <a:p>
            <a:pPr marL="711200">
              <a:spcBef>
                <a:spcPts val="900"/>
              </a:spcBef>
            </a:pPr>
            <a:r>
              <a:rPr lang="fr-FR" dirty="0">
                <a:solidFill>
                  <a:srgbClr val="0E0E0E"/>
                </a:solidFill>
                <a:effectLst/>
                <a:latin typeface="Arial" panose="020B0604020202020204" pitchFamily="34" charset="0"/>
                <a:cs typeface="Arial" panose="020B0604020202020204" pitchFamily="34" charset="0"/>
              </a:rPr>
              <a:t>• Très utilisé pour la collecte centralisée des journaux dans des environnements distribués.</a:t>
            </a:r>
          </a:p>
        </p:txBody>
      </p:sp>
    </p:spTree>
    <p:extLst>
      <p:ext uri="{BB962C8B-B14F-4D97-AF65-F5344CB8AC3E}">
        <p14:creationId xmlns:p14="http://schemas.microsoft.com/office/powerpoint/2010/main" val="2731135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13A44-6EBC-CEB8-F9BD-C39F3077476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25946E07-2AE1-C405-910D-0F40B2F4B2B8}"/>
              </a:ext>
            </a:extLst>
          </p:cNvPr>
          <p:cNvSpPr txBox="1"/>
          <p:nvPr/>
        </p:nvSpPr>
        <p:spPr>
          <a:xfrm>
            <a:off x="162046" y="300941"/>
            <a:ext cx="12029954" cy="3277820"/>
          </a:xfrm>
          <a:prstGeom prst="rect">
            <a:avLst/>
          </a:prstGeom>
          <a:noFill/>
        </p:spPr>
        <p:txBody>
          <a:bodyPr wrap="square" rtlCol="0">
            <a:spAutoFit/>
          </a:bodyPr>
          <a:lstStyle/>
          <a:p>
            <a:pPr algn="ctr"/>
            <a:r>
              <a:rPr lang="fr-FR" b="1" dirty="0">
                <a:effectLst/>
                <a:latin typeface="Arial" panose="020B0604020202020204" pitchFamily="34" charset="0"/>
                <a:ea typeface="Calibri" panose="020F0502020204030204" pitchFamily="34" charset="0"/>
                <a:cs typeface="Arial" panose="020B0604020202020204" pitchFamily="34" charset="0"/>
              </a:rPr>
              <a:t>Syslog et </a:t>
            </a:r>
            <a:r>
              <a:rPr lang="fr-FR" b="1" dirty="0" err="1">
                <a:effectLst/>
                <a:latin typeface="Arial" panose="020B0604020202020204" pitchFamily="34" charset="0"/>
                <a:ea typeface="Calibri" panose="020F0502020204030204" pitchFamily="34" charset="0"/>
                <a:cs typeface="Arial" panose="020B0604020202020204" pitchFamily="34" charset="0"/>
              </a:rPr>
              <a:t>Rsyslog</a:t>
            </a:r>
            <a:endParaRPr lang="fr-FR" b="1" dirty="0">
              <a:effectLst/>
              <a:latin typeface="Arial" panose="020B0604020202020204" pitchFamily="34" charset="0"/>
              <a:ea typeface="Calibri" panose="020F0502020204030204" pitchFamily="34" charset="0"/>
              <a:cs typeface="Arial" panose="020B0604020202020204" pitchFamily="34" charset="0"/>
            </a:endParaRPr>
          </a:p>
          <a:p>
            <a:pPr algn="just"/>
            <a:endParaRPr lang="fr-FR" b="1" dirty="0">
              <a:solidFill>
                <a:srgbClr val="0E0E0E"/>
              </a:solidFill>
              <a:latin typeface="Arial" panose="020B0604020202020204" pitchFamily="34" charset="0"/>
              <a:cs typeface="Arial" panose="020B0604020202020204" pitchFamily="34" charset="0"/>
            </a:endParaRPr>
          </a:p>
          <a:p>
            <a:pPr marL="3556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effectLst/>
                <a:latin typeface=".AppleSystemUIFont"/>
              </a:rPr>
              <a:t>Quand utiliser l’un ou l’autre ?</a:t>
            </a:r>
            <a:endParaRPr lang="fr-FR" dirty="0">
              <a:solidFill>
                <a:srgbClr val="0E0E0E"/>
              </a:solidFill>
              <a:effectLst/>
              <a:latin typeface=".AppleSystemUIFont"/>
            </a:endParaRPr>
          </a:p>
          <a:p>
            <a:pPr marL="679450">
              <a:spcBef>
                <a:spcPts val="900"/>
              </a:spcBef>
            </a:pPr>
            <a:r>
              <a:rPr lang="fr-FR" dirty="0">
                <a:solidFill>
                  <a:srgbClr val="0E0E0E"/>
                </a:solidFill>
                <a:effectLst/>
                <a:latin typeface=".AppleSystemUIFont"/>
              </a:rPr>
              <a:t>• </a:t>
            </a:r>
            <a:r>
              <a:rPr lang="fr-FR" b="1" dirty="0">
                <a:solidFill>
                  <a:srgbClr val="0E0E0E"/>
                </a:solidFill>
                <a:effectLst/>
                <a:latin typeface=".AppleSystemUIFont"/>
              </a:rPr>
              <a:t>Syslog</a:t>
            </a:r>
            <a:r>
              <a:rPr lang="fr-FR" dirty="0">
                <a:solidFill>
                  <a:srgbClr val="0E0E0E"/>
                </a:solidFill>
                <a:effectLst/>
                <a:latin typeface=".AppleSystemUIFont"/>
              </a:rPr>
              <a:t> :</a:t>
            </a:r>
          </a:p>
          <a:p>
            <a:pPr marL="1066800">
              <a:spcBef>
                <a:spcPts val="900"/>
              </a:spcBef>
            </a:pPr>
            <a:r>
              <a:rPr lang="fr-FR" dirty="0">
                <a:solidFill>
                  <a:srgbClr val="0E0E0E"/>
                </a:solidFill>
                <a:effectLst/>
                <a:latin typeface=".AppleSystemUIFont"/>
              </a:rPr>
              <a:t>• Si vous avez un système simple et léger, où les besoins de journalisation sont basiques.</a:t>
            </a:r>
            <a:endParaRPr lang="fr-FR" sz="500" dirty="0">
              <a:solidFill>
                <a:srgbClr val="0E0E0E"/>
              </a:solidFill>
              <a:effectLst/>
              <a:latin typeface=".AppleSystemUIFont"/>
            </a:endParaRPr>
          </a:p>
          <a:p>
            <a:pPr marL="679450">
              <a:spcBef>
                <a:spcPts val="900"/>
              </a:spcBef>
            </a:pPr>
            <a:r>
              <a:rPr lang="fr-FR" dirty="0">
                <a:solidFill>
                  <a:srgbClr val="0E0E0E"/>
                </a:solidFill>
                <a:effectLst/>
                <a:latin typeface=".AppleSystemUIFont"/>
              </a:rPr>
              <a:t>• </a:t>
            </a:r>
            <a:r>
              <a:rPr lang="fr-FR" b="1" dirty="0" err="1">
                <a:solidFill>
                  <a:srgbClr val="0E0E0E"/>
                </a:solidFill>
                <a:effectLst/>
                <a:latin typeface=".AppleSystemUIFont"/>
              </a:rPr>
              <a:t>Rsyslog</a:t>
            </a:r>
            <a:r>
              <a:rPr lang="fr-FR" dirty="0">
                <a:solidFill>
                  <a:srgbClr val="0E0E0E"/>
                </a:solidFill>
                <a:effectLst/>
                <a:latin typeface=".AppleSystemUIFont"/>
              </a:rPr>
              <a:t> :</a:t>
            </a:r>
          </a:p>
          <a:p>
            <a:pPr marL="1122363">
              <a:spcBef>
                <a:spcPts val="900"/>
              </a:spcBef>
            </a:pPr>
            <a:r>
              <a:rPr lang="fr-FR" dirty="0">
                <a:solidFill>
                  <a:srgbClr val="0E0E0E"/>
                </a:solidFill>
                <a:effectLst/>
                <a:latin typeface=".AppleSystemUIFont"/>
              </a:rPr>
              <a:t>• Si vous avez un environnement complexe, de grands volumes de journaux, ou un besoin d’intégration avec des bases de données et des systèmes modernes</a:t>
            </a:r>
          </a:p>
          <a:p>
            <a:pPr marL="17463" algn="ctr">
              <a:spcBef>
                <a:spcPts val="900"/>
              </a:spcBef>
            </a:pPr>
            <a:r>
              <a:rPr lang="fr-FR" i="1" dirty="0">
                <a:solidFill>
                  <a:srgbClr val="0E0E0E"/>
                </a:solidFill>
                <a:effectLst/>
                <a:latin typeface=".AppleSystemUIFont"/>
              </a:rPr>
              <a:t>Dans la plupart des cas modernes, </a:t>
            </a:r>
            <a:r>
              <a:rPr lang="fr-FR" b="1" i="1" dirty="0" err="1">
                <a:solidFill>
                  <a:srgbClr val="0E0E0E"/>
                </a:solidFill>
                <a:effectLst/>
                <a:latin typeface=".AppleSystemUIFontMonospaced"/>
              </a:rPr>
              <a:t>rsyslog</a:t>
            </a:r>
            <a:r>
              <a:rPr lang="fr-FR" i="1" dirty="0">
                <a:solidFill>
                  <a:srgbClr val="0E0E0E"/>
                </a:solidFill>
                <a:effectLst/>
                <a:latin typeface=".AppleSystemUIFont"/>
              </a:rPr>
              <a:t> est préféré car il est plus puissant et flexible tout en restant compatible avec </a:t>
            </a:r>
            <a:r>
              <a:rPr lang="fr-FR" b="1" i="1" dirty="0" err="1">
                <a:solidFill>
                  <a:srgbClr val="0E0E0E"/>
                </a:solidFill>
                <a:effectLst/>
                <a:latin typeface=".AppleSystemUIFontMonospaced"/>
              </a:rPr>
              <a:t>syslog</a:t>
            </a:r>
            <a:r>
              <a:rPr lang="fr-FR" i="1" dirty="0">
                <a:solidFill>
                  <a:srgbClr val="0E0E0E"/>
                </a:solidFill>
                <a:effectLst/>
                <a:latin typeface=".AppleSystemUIFont"/>
              </a:rPr>
              <a:t>.</a:t>
            </a:r>
          </a:p>
        </p:txBody>
      </p:sp>
      <p:pic>
        <p:nvPicPr>
          <p:cNvPr id="2" name="Image 1">
            <a:extLst>
              <a:ext uri="{FF2B5EF4-FFF2-40B4-BE49-F238E27FC236}">
                <a16:creationId xmlns:a16="http://schemas.microsoft.com/office/drawing/2014/main" id="{E1D16D4E-1DDF-AABC-F88D-AD897810AE91}"/>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2000"/>
                    </a14:imgEffect>
                  </a14:imgLayer>
                </a14:imgProps>
              </a:ext>
            </a:extLst>
          </a:blip>
          <a:stretch>
            <a:fillRect/>
          </a:stretch>
        </p:blipFill>
        <p:spPr>
          <a:xfrm>
            <a:off x="3568636" y="3743471"/>
            <a:ext cx="5054728" cy="3114529"/>
          </a:xfrm>
          <a:prstGeom prst="rect">
            <a:avLst/>
          </a:prstGeom>
        </p:spPr>
      </p:pic>
    </p:spTree>
    <p:extLst>
      <p:ext uri="{BB962C8B-B14F-4D97-AF65-F5344CB8AC3E}">
        <p14:creationId xmlns:p14="http://schemas.microsoft.com/office/powerpoint/2010/main" val="2536550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DE7A9-9A97-D9A6-76A5-1869E984263E}"/>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A8610D77-1892-9B1A-AE5B-7D3A1A94D4BD}"/>
              </a:ext>
            </a:extLst>
          </p:cNvPr>
          <p:cNvSpPr txBox="1"/>
          <p:nvPr/>
        </p:nvSpPr>
        <p:spPr>
          <a:xfrm>
            <a:off x="162046" y="300941"/>
            <a:ext cx="12029954" cy="5355312"/>
          </a:xfrm>
          <a:prstGeom prst="rect">
            <a:avLst/>
          </a:prstGeom>
          <a:noFill/>
        </p:spPr>
        <p:txBody>
          <a:bodyPr wrap="square" rtlCol="0">
            <a:spAutoFit/>
          </a:bodyPr>
          <a:lstStyle/>
          <a:p>
            <a:pPr algn="ctr"/>
            <a:r>
              <a:rPr lang="fr-FR" b="1" dirty="0">
                <a:effectLst/>
                <a:latin typeface="Arial" panose="020B0604020202020204" pitchFamily="34" charset="0"/>
                <a:ea typeface="Calibri" panose="020F0502020204030204" pitchFamily="34" charset="0"/>
                <a:cs typeface="Arial" panose="020B0604020202020204" pitchFamily="34" charset="0"/>
              </a:rPr>
              <a:t>Syslog et </a:t>
            </a:r>
            <a:r>
              <a:rPr lang="fr-FR" b="1" dirty="0" err="1">
                <a:effectLst/>
                <a:latin typeface="Arial" panose="020B0604020202020204" pitchFamily="34" charset="0"/>
                <a:ea typeface="Calibri" panose="020F0502020204030204" pitchFamily="34" charset="0"/>
                <a:cs typeface="Arial" panose="020B0604020202020204" pitchFamily="34" charset="0"/>
              </a:rPr>
              <a:t>Rsyslog</a:t>
            </a:r>
            <a:endParaRPr lang="fr-FR" b="1" dirty="0">
              <a:effectLst/>
              <a:latin typeface="Arial" panose="020B0604020202020204" pitchFamily="34" charset="0"/>
              <a:ea typeface="Calibri" panose="020F0502020204030204" pitchFamily="34" charset="0"/>
              <a:cs typeface="Arial" panose="020B0604020202020204" pitchFamily="34" charset="0"/>
            </a:endParaRPr>
          </a:p>
          <a:p>
            <a:pPr algn="just"/>
            <a:endParaRPr lang="fr-FR" b="1" dirty="0">
              <a:solidFill>
                <a:srgbClr val="0E0E0E"/>
              </a:solidFill>
              <a:latin typeface="Arial" panose="020B0604020202020204" pitchFamily="34" charset="0"/>
              <a:cs typeface="Arial" panose="020B0604020202020204" pitchFamily="34" charset="0"/>
            </a:endParaRPr>
          </a:p>
          <a:p>
            <a:pPr marL="355600">
              <a:spcBef>
                <a:spcPts val="900"/>
              </a:spcBef>
            </a:pPr>
            <a:r>
              <a:rPr lang="fr-FR" dirty="0">
                <a:solidFill>
                  <a:srgbClr val="0E0E0E"/>
                </a:solidFill>
                <a:effectLst/>
                <a:latin typeface="Arial" panose="020B0604020202020204" pitchFamily="34" charset="0"/>
                <a:cs typeface="Arial" panose="020B0604020202020204" pitchFamily="34" charset="0"/>
              </a:rPr>
              <a:t>• </a:t>
            </a:r>
            <a:r>
              <a:rPr lang="fr-FR" b="1" dirty="0">
                <a:solidFill>
                  <a:srgbClr val="0E0E0E"/>
                </a:solidFill>
                <a:latin typeface=".AppleSystemUIFont"/>
                <a:cs typeface="Arial" panose="020B0604020202020204" pitchFamily="34" charset="0"/>
              </a:rPr>
              <a:t>Tester le traitement des messages</a:t>
            </a:r>
          </a:p>
          <a:p>
            <a:pPr marL="355600">
              <a:spcBef>
                <a:spcPts val="900"/>
              </a:spcBef>
            </a:pPr>
            <a:endParaRPr lang="fr-FR" dirty="0">
              <a:solidFill>
                <a:srgbClr val="0E0E0E"/>
              </a:solidFill>
              <a:effectLst/>
              <a:latin typeface=".AppleSystemUIFont"/>
              <a:cs typeface="Arial" panose="020B0604020202020204" pitchFamily="34" charset="0"/>
            </a:endParaRPr>
          </a:p>
          <a:p>
            <a:pPr marL="717550">
              <a:spcBef>
                <a:spcPts val="900"/>
              </a:spcBef>
            </a:pPr>
            <a:r>
              <a:rPr lang="fr-FR" dirty="0">
                <a:solidFill>
                  <a:srgbClr val="0E0E0E"/>
                </a:solidFill>
                <a:latin typeface=".AppleSystemUIFont"/>
                <a:cs typeface="Arial" panose="020B0604020202020204" pitchFamily="34" charset="0"/>
              </a:rPr>
              <a:t>Supposant que les messages sont enregistrés dans </a:t>
            </a:r>
            <a:r>
              <a:rPr lang="fr-FR" b="1" i="1" dirty="0">
                <a:solidFill>
                  <a:srgbClr val="0E0E0E"/>
                </a:solidFill>
                <a:effectLst/>
                <a:latin typeface=".AppleSystemUIFontMonospaced"/>
              </a:rPr>
              <a:t>/var/log/</a:t>
            </a:r>
            <a:r>
              <a:rPr lang="fr-FR" b="1" i="1" dirty="0" err="1">
                <a:solidFill>
                  <a:srgbClr val="0E0E0E"/>
                </a:solidFill>
                <a:effectLst/>
                <a:latin typeface=".AppleSystemUIFontMonospaced"/>
              </a:rPr>
              <a:t>auth_warning.log</a:t>
            </a:r>
            <a:r>
              <a:rPr lang="fr-FR" b="1" i="1" dirty="0">
                <a:solidFill>
                  <a:srgbClr val="0E0E0E"/>
                </a:solidFill>
                <a:effectLst/>
                <a:latin typeface=".AppleSystemUIFontMonospaced"/>
              </a:rPr>
              <a:t> </a:t>
            </a:r>
            <a:r>
              <a:rPr lang="fr-FR" dirty="0">
                <a:solidFill>
                  <a:srgbClr val="0E0E0E"/>
                </a:solidFill>
                <a:effectLst/>
                <a:latin typeface=".AppleSystemUIFontMonospaced"/>
              </a:rPr>
              <a:t>lorsqu’ils sont interceptés.</a:t>
            </a:r>
          </a:p>
          <a:p>
            <a:pPr marL="717550">
              <a:spcBef>
                <a:spcPts val="900"/>
              </a:spcBef>
            </a:pPr>
            <a:endParaRPr lang="fr-FR" dirty="0">
              <a:solidFill>
                <a:srgbClr val="0E0E0E"/>
              </a:solidFill>
              <a:effectLst/>
              <a:latin typeface=".AppleSystemUIFont"/>
            </a:endParaRPr>
          </a:p>
          <a:p>
            <a:pPr marL="717550">
              <a:spcBef>
                <a:spcPts val="900"/>
              </a:spcBef>
            </a:pPr>
            <a:r>
              <a:rPr lang="fr-FR" dirty="0">
                <a:solidFill>
                  <a:srgbClr val="0E0E0E"/>
                </a:solidFill>
                <a:effectLst/>
                <a:latin typeface=".AppleSystemUIFont"/>
              </a:rPr>
              <a:t>On peut générez un message de journal avec la commande suivante :</a:t>
            </a:r>
          </a:p>
          <a:p>
            <a:pPr marL="1076325">
              <a:spcBef>
                <a:spcPts val="900"/>
              </a:spcBef>
            </a:pPr>
            <a:endParaRPr lang="fr-FR" dirty="0">
              <a:solidFill>
                <a:srgbClr val="0E0E0E"/>
              </a:solidFill>
              <a:effectLst/>
              <a:latin typeface=".AppleSystemUIFont"/>
            </a:endParaRPr>
          </a:p>
          <a:p>
            <a:pPr marL="1076325">
              <a:spcBef>
                <a:spcPts val="900"/>
              </a:spcBef>
            </a:pPr>
            <a:r>
              <a:rPr lang="fr-FR" dirty="0">
                <a:solidFill>
                  <a:srgbClr val="0E0E0E"/>
                </a:solidFill>
                <a:effectLst/>
                <a:latin typeface=".AppleSystemUIFont"/>
              </a:rPr>
              <a:t>logger -p </a:t>
            </a:r>
            <a:r>
              <a:rPr lang="fr-FR" dirty="0" err="1">
                <a:solidFill>
                  <a:srgbClr val="0E0E0E"/>
                </a:solidFill>
                <a:effectLst/>
                <a:latin typeface=".AppleSystemUIFont"/>
              </a:rPr>
              <a:t>auth.warning</a:t>
            </a:r>
            <a:r>
              <a:rPr lang="fr-FR" dirty="0">
                <a:solidFill>
                  <a:srgbClr val="0E0E0E"/>
                </a:solidFill>
                <a:effectLst/>
                <a:latin typeface=".AppleSystemUIFont"/>
              </a:rPr>
              <a:t> "Test warning message"</a:t>
            </a:r>
          </a:p>
          <a:p>
            <a:pPr marL="717550">
              <a:spcBef>
                <a:spcPts val="900"/>
              </a:spcBef>
            </a:pPr>
            <a:endParaRPr lang="fr-FR" dirty="0">
              <a:solidFill>
                <a:srgbClr val="0E0E0E"/>
              </a:solidFill>
              <a:effectLst/>
              <a:latin typeface=".AppleSystemUIFont"/>
            </a:endParaRPr>
          </a:p>
          <a:p>
            <a:pPr marL="717550">
              <a:spcBef>
                <a:spcPts val="900"/>
              </a:spcBef>
            </a:pPr>
            <a:endParaRPr lang="fr-FR" dirty="0">
              <a:solidFill>
                <a:srgbClr val="0E0E0E"/>
              </a:solidFill>
              <a:effectLst/>
              <a:latin typeface=".AppleSystemUIFont"/>
            </a:endParaRPr>
          </a:p>
          <a:p>
            <a:pPr marL="717550">
              <a:spcBef>
                <a:spcPts val="900"/>
              </a:spcBef>
            </a:pPr>
            <a:r>
              <a:rPr lang="fr-FR" dirty="0">
                <a:solidFill>
                  <a:srgbClr val="0E0E0E"/>
                </a:solidFill>
                <a:latin typeface=".AppleSystemUIFont"/>
              </a:rPr>
              <a:t>On peut alors v</a:t>
            </a:r>
            <a:r>
              <a:rPr lang="fr-FR" dirty="0">
                <a:solidFill>
                  <a:srgbClr val="0E0E0E"/>
                </a:solidFill>
                <a:effectLst/>
                <a:latin typeface=".AppleSystemUIFont"/>
              </a:rPr>
              <a:t>érifiez que le message a été traité et ajouté au fichier </a:t>
            </a:r>
            <a:r>
              <a:rPr lang="fr-FR" dirty="0">
                <a:solidFill>
                  <a:srgbClr val="0E0E0E"/>
                </a:solidFill>
                <a:effectLst/>
                <a:latin typeface=".AppleSystemUIFontMonospaced"/>
              </a:rPr>
              <a:t>/var/log/</a:t>
            </a:r>
            <a:r>
              <a:rPr lang="fr-FR" dirty="0" err="1">
                <a:solidFill>
                  <a:srgbClr val="0E0E0E"/>
                </a:solidFill>
                <a:effectLst/>
                <a:latin typeface=".AppleSystemUIFontMonospaced"/>
              </a:rPr>
              <a:t>auth_warning.log</a:t>
            </a:r>
            <a:r>
              <a:rPr lang="fr-FR" dirty="0">
                <a:solidFill>
                  <a:srgbClr val="0E0E0E"/>
                </a:solidFill>
                <a:effectLst/>
                <a:latin typeface=".AppleSystemUIFont"/>
              </a:rPr>
              <a:t> </a:t>
            </a:r>
          </a:p>
          <a:p>
            <a:pPr marL="1076325">
              <a:spcBef>
                <a:spcPts val="900"/>
              </a:spcBef>
            </a:pPr>
            <a:endParaRPr lang="fr-FR" dirty="0">
              <a:solidFill>
                <a:srgbClr val="0E0E0E"/>
              </a:solidFill>
              <a:effectLst/>
              <a:latin typeface=".AppleSystemUIFont"/>
            </a:endParaRPr>
          </a:p>
          <a:p>
            <a:pPr marL="1076325">
              <a:spcBef>
                <a:spcPts val="900"/>
              </a:spcBef>
            </a:pPr>
            <a:r>
              <a:rPr lang="fr-FR" dirty="0">
                <a:solidFill>
                  <a:srgbClr val="0E0E0E"/>
                </a:solidFill>
                <a:effectLst/>
                <a:latin typeface=".AppleSystemUIFont"/>
              </a:rPr>
              <a:t>cat /var/log/</a:t>
            </a:r>
            <a:r>
              <a:rPr lang="fr-FR" dirty="0" err="1">
                <a:solidFill>
                  <a:srgbClr val="0E0E0E"/>
                </a:solidFill>
                <a:effectLst/>
                <a:latin typeface=".AppleSystemUIFont"/>
              </a:rPr>
              <a:t>auth_warning.log</a:t>
            </a:r>
            <a:endParaRPr lang="fr-FR" dirty="0">
              <a:solidFill>
                <a:srgbClr val="0E0E0E"/>
              </a:solidFill>
              <a:effectLst/>
              <a:latin typeface=".AppleSystemUIFont"/>
            </a:endParaRPr>
          </a:p>
        </p:txBody>
      </p:sp>
    </p:spTree>
    <p:extLst>
      <p:ext uri="{BB962C8B-B14F-4D97-AF65-F5344CB8AC3E}">
        <p14:creationId xmlns:p14="http://schemas.microsoft.com/office/powerpoint/2010/main" val="211388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DF15C-5C2D-CE9B-E250-78782802BD9F}"/>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04B35FFB-7C1B-D976-463A-0A5F0552DA45}"/>
              </a:ext>
            </a:extLst>
          </p:cNvPr>
          <p:cNvSpPr txBox="1"/>
          <p:nvPr/>
        </p:nvSpPr>
        <p:spPr>
          <a:xfrm>
            <a:off x="162046" y="300941"/>
            <a:ext cx="11655706" cy="6647974"/>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3 - </a:t>
            </a:r>
            <a:r>
              <a:rPr lang="fr-FR" b="1" dirty="0">
                <a:solidFill>
                  <a:srgbClr val="0E0E0E"/>
                </a:solidFill>
                <a:effectLst/>
                <a:latin typeface=".AppleSystemUIFont"/>
              </a:rPr>
              <a:t>Alertes en temps réel pour des événements critiques</a:t>
            </a:r>
            <a:endParaRPr lang="fr-FR" dirty="0">
              <a:solidFill>
                <a:srgbClr val="0E0E0E"/>
              </a:solidFill>
              <a:effectLst/>
              <a:latin typeface=".AppleSystemUIFont"/>
            </a:endParaRPr>
          </a:p>
          <a:p>
            <a:endParaRPr lang="fr-FR" dirty="0">
              <a:solidFill>
                <a:srgbClr val="0E0E0E"/>
              </a:solidFill>
              <a:effectLst/>
              <a:latin typeface=".AppleSystemUIFont"/>
            </a:endParaRPr>
          </a:p>
          <a:p>
            <a:r>
              <a:rPr lang="fr-FR" dirty="0">
                <a:solidFill>
                  <a:srgbClr val="0E0E0E"/>
                </a:solidFill>
                <a:effectLst/>
                <a:latin typeface=".AppleSystemUIFont"/>
              </a:rPr>
              <a:t>Configurer une alerte en temps réel pour tout événement critique (</a:t>
            </a:r>
            <a:r>
              <a:rPr lang="fr-FR" dirty="0" err="1">
                <a:solidFill>
                  <a:srgbClr val="0E0E0E"/>
                </a:solidFill>
                <a:effectLst/>
                <a:latin typeface=".AppleSystemUIFontMonospaced"/>
              </a:rPr>
              <a:t>crit</a:t>
            </a:r>
            <a:r>
              <a:rPr lang="fr-FR" dirty="0">
                <a:solidFill>
                  <a:srgbClr val="0E0E0E"/>
                </a:solidFill>
                <a:effectLst/>
                <a:latin typeface=".AppleSystemUIFont"/>
              </a:rPr>
              <a:t> ou supérieur) sur le système, de manière à envoyer un email automatique à un administrateur avec le contenu du journal.</a:t>
            </a:r>
          </a:p>
          <a:p>
            <a:br>
              <a:rPr lang="fr-FR" dirty="0">
                <a:solidFill>
                  <a:srgbClr val="0E0E0E"/>
                </a:solidFill>
                <a:effectLst/>
                <a:latin typeface=".AppleSystemUIFont"/>
              </a:rPr>
            </a:br>
            <a:r>
              <a:rPr lang="fr-FR" dirty="0">
                <a:solidFill>
                  <a:srgbClr val="0E0E0E"/>
                </a:solidFill>
                <a:effectLst/>
                <a:latin typeface=".AppleSystemUIFont"/>
              </a:rPr>
              <a:t>1. Configurez </a:t>
            </a:r>
            <a:r>
              <a:rPr lang="fr-FR" b="1" dirty="0" err="1">
                <a:solidFill>
                  <a:srgbClr val="0E0E0E"/>
                </a:solidFill>
                <a:effectLst/>
                <a:latin typeface=".AppleSystemUIFont"/>
              </a:rPr>
              <a:t>rsyslog</a:t>
            </a:r>
            <a:r>
              <a:rPr lang="fr-FR" dirty="0">
                <a:solidFill>
                  <a:srgbClr val="0E0E0E"/>
                </a:solidFill>
                <a:effectLst/>
                <a:latin typeface=".AppleSystemUIFont"/>
              </a:rPr>
              <a:t> pour détecter les événements critiques et exécuter un script personnalisé pour envoyer un email.</a:t>
            </a:r>
          </a:p>
          <a:p>
            <a:pPr>
              <a:spcBef>
                <a:spcPts val="900"/>
              </a:spcBef>
            </a:pPr>
            <a:r>
              <a:rPr lang="fr-FR" dirty="0">
                <a:solidFill>
                  <a:srgbClr val="0E0E0E"/>
                </a:solidFill>
                <a:effectLst/>
                <a:latin typeface=".AppleSystemUIFont"/>
              </a:rPr>
              <a:t>2. Implémentez un script </a:t>
            </a:r>
            <a:r>
              <a:rPr lang="fr-FR" dirty="0" err="1">
                <a:solidFill>
                  <a:srgbClr val="0E0E0E"/>
                </a:solidFill>
                <a:effectLst/>
                <a:latin typeface=".AppleSystemUIFont"/>
              </a:rPr>
              <a:t>shell</a:t>
            </a:r>
            <a:r>
              <a:rPr lang="fr-FR" dirty="0">
                <a:solidFill>
                  <a:srgbClr val="0E0E0E"/>
                </a:solidFill>
                <a:effectLst/>
                <a:latin typeface=".AppleSystemUIFont"/>
              </a:rPr>
              <a:t> pour générer l’email avec les informations pertinentes.</a:t>
            </a:r>
          </a:p>
          <a:p>
            <a:br>
              <a:rPr lang="fr-FR" dirty="0">
                <a:solidFill>
                  <a:srgbClr val="0E0E0E"/>
                </a:solidFill>
                <a:effectLst/>
                <a:latin typeface=".AppleSystemUIFont"/>
              </a:rPr>
            </a:br>
            <a:endParaRPr lang="fr-FR" dirty="0">
              <a:solidFill>
                <a:srgbClr val="0E0E0E"/>
              </a:solidFill>
              <a:effectLst/>
              <a:latin typeface=".AppleSystemUIFont"/>
            </a:endParaRPr>
          </a:p>
          <a:p>
            <a:r>
              <a:rPr lang="fr-FR" b="1" dirty="0">
                <a:solidFill>
                  <a:srgbClr val="0E0E0E"/>
                </a:solidFill>
                <a:effectLst/>
                <a:latin typeface=".AppleSystemUIFont"/>
              </a:rPr>
              <a:t>Indications :</a:t>
            </a:r>
            <a:endParaRPr lang="fr-FR" dirty="0">
              <a:solidFill>
                <a:srgbClr val="0E0E0E"/>
              </a:solidFill>
              <a:effectLst/>
              <a:latin typeface=".AppleSystemUIFont"/>
            </a:endParaRPr>
          </a:p>
          <a:p>
            <a:pPr>
              <a:spcBef>
                <a:spcPts val="900"/>
              </a:spcBef>
            </a:pPr>
            <a:r>
              <a:rPr lang="fr-FR" dirty="0">
                <a:solidFill>
                  <a:srgbClr val="0E0E0E"/>
                </a:solidFill>
                <a:effectLst/>
                <a:latin typeface=".AppleSystemUIFont"/>
              </a:rPr>
              <a:t>• Utilisez le module </a:t>
            </a:r>
            <a:r>
              <a:rPr lang="fr-FR" b="1" dirty="0" err="1">
                <a:solidFill>
                  <a:srgbClr val="0E0E0E"/>
                </a:solidFill>
                <a:effectLst/>
                <a:latin typeface=".AppleSystemUIFont"/>
              </a:rPr>
              <a:t>omprog</a:t>
            </a:r>
            <a:r>
              <a:rPr lang="fr-FR" dirty="0">
                <a:solidFill>
                  <a:srgbClr val="0E0E0E"/>
                </a:solidFill>
                <a:effectLst/>
                <a:latin typeface=".AppleSystemUIFont"/>
              </a:rPr>
              <a:t> ou configurez une commande via une directive dans </a:t>
            </a:r>
            <a:r>
              <a:rPr lang="fr-FR" dirty="0">
                <a:solidFill>
                  <a:srgbClr val="0E0E0E"/>
                </a:solidFill>
                <a:effectLst/>
                <a:latin typeface=".AppleSystemUIFontMonospaced"/>
              </a:rPr>
              <a:t>/</a:t>
            </a:r>
            <a:r>
              <a:rPr lang="fr-FR" dirty="0" err="1">
                <a:solidFill>
                  <a:srgbClr val="0E0E0E"/>
                </a:solidFill>
                <a:effectLst/>
                <a:latin typeface=".AppleSystemUIFontMonospaced"/>
              </a:rPr>
              <a:t>etc</a:t>
            </a:r>
            <a:r>
              <a:rPr lang="fr-FR" dirty="0">
                <a:solidFill>
                  <a:srgbClr val="0E0E0E"/>
                </a:solidFill>
                <a:effectLst/>
                <a:latin typeface=".AppleSystemUIFontMonospaced"/>
              </a:rPr>
              <a:t>/</a:t>
            </a:r>
            <a:r>
              <a:rPr lang="fr-FR" dirty="0" err="1">
                <a:solidFill>
                  <a:srgbClr val="0E0E0E"/>
                </a:solidFill>
                <a:effectLst/>
                <a:latin typeface=".AppleSystemUIFontMonospaced"/>
              </a:rPr>
              <a:t>rsyslog.conf</a:t>
            </a:r>
            <a:r>
              <a:rPr lang="fr-FR" dirty="0">
                <a:solidFill>
                  <a:srgbClr val="0E0E0E"/>
                </a:solidFill>
                <a:effectLst/>
                <a:latin typeface=".AppleSystemUIFont"/>
              </a:rPr>
              <a:t>.</a:t>
            </a:r>
          </a:p>
          <a:p>
            <a:pPr>
              <a:spcBef>
                <a:spcPts val="900"/>
              </a:spcBef>
            </a:pPr>
            <a:r>
              <a:rPr lang="fr-FR" dirty="0">
                <a:solidFill>
                  <a:srgbClr val="0E0E0E"/>
                </a:solidFill>
                <a:effectLst/>
                <a:latin typeface=".AppleSystemUIFont"/>
              </a:rPr>
              <a:t>• Assurez-vous que le système peut envoyer des emails (par exemple, avec </a:t>
            </a:r>
            <a:r>
              <a:rPr lang="fr-FR" b="1" dirty="0" err="1">
                <a:solidFill>
                  <a:srgbClr val="0E0E0E"/>
                </a:solidFill>
                <a:effectLst/>
                <a:latin typeface=".AppleSystemUIFont"/>
              </a:rPr>
              <a:t>mailx</a:t>
            </a:r>
            <a:r>
              <a:rPr lang="fr-FR" dirty="0">
                <a:solidFill>
                  <a:srgbClr val="0E0E0E"/>
                </a:solidFill>
                <a:effectLst/>
                <a:latin typeface=".AppleSystemUIFont"/>
              </a:rPr>
              <a:t> ou </a:t>
            </a:r>
            <a:r>
              <a:rPr lang="fr-FR" b="1" dirty="0" err="1">
                <a:solidFill>
                  <a:srgbClr val="0E0E0E"/>
                </a:solidFill>
                <a:effectLst/>
                <a:latin typeface=".AppleSystemUIFont"/>
              </a:rPr>
              <a:t>sendmail</a:t>
            </a:r>
            <a:r>
              <a:rPr lang="fr-FR" dirty="0">
                <a:solidFill>
                  <a:srgbClr val="0E0E0E"/>
                </a:solidFill>
                <a:effectLst/>
                <a:latin typeface=".AppleSystemUIFont"/>
              </a:rPr>
              <a:t>).</a:t>
            </a:r>
          </a:p>
          <a:p>
            <a:pPr>
              <a:spcBef>
                <a:spcPts val="900"/>
              </a:spcBef>
            </a:pPr>
            <a:endParaRPr lang="fr-FR" sz="1400" dirty="0">
              <a:solidFill>
                <a:srgbClr val="0E0E0E"/>
              </a:solidFill>
              <a:latin typeface=".AppleSystemUIFont"/>
            </a:endParaRPr>
          </a:p>
          <a:p>
            <a:pPr marL="717550"/>
            <a:r>
              <a:rPr lang="fr-FR" b="1" i="1" dirty="0">
                <a:solidFill>
                  <a:srgbClr val="0E0E0E"/>
                </a:solidFill>
                <a:effectLst/>
                <a:latin typeface=".AppleSystemUIFont"/>
              </a:rPr>
              <a:t>Qu’est-ce que </a:t>
            </a:r>
            <a:r>
              <a:rPr lang="fr-FR" b="1" i="1" dirty="0" err="1">
                <a:solidFill>
                  <a:srgbClr val="0E0E0E"/>
                </a:solidFill>
                <a:effectLst/>
                <a:latin typeface=".AppleSystemUIFont"/>
              </a:rPr>
              <a:t>omprog</a:t>
            </a:r>
            <a:r>
              <a:rPr lang="fr-FR" b="1" i="1" dirty="0">
                <a:solidFill>
                  <a:srgbClr val="0E0E0E"/>
                </a:solidFill>
                <a:effectLst/>
                <a:latin typeface=".AppleSystemUIFont"/>
              </a:rPr>
              <a:t> dans </a:t>
            </a:r>
            <a:r>
              <a:rPr lang="fr-FR" b="1" i="1" dirty="0" err="1">
                <a:solidFill>
                  <a:srgbClr val="0E0E0E"/>
                </a:solidFill>
                <a:effectLst/>
                <a:latin typeface=".AppleSystemUIFont"/>
              </a:rPr>
              <a:t>rsyslog</a:t>
            </a:r>
            <a:r>
              <a:rPr lang="fr-FR" b="1" i="1" dirty="0">
                <a:solidFill>
                  <a:srgbClr val="0E0E0E"/>
                </a:solidFill>
                <a:effectLst/>
                <a:latin typeface=".AppleSystemUIFont"/>
              </a:rPr>
              <a:t> ?</a:t>
            </a:r>
            <a:endParaRPr lang="fr-FR" i="1" dirty="0">
              <a:solidFill>
                <a:srgbClr val="0E0E0E"/>
              </a:solidFill>
              <a:effectLst/>
              <a:latin typeface=".AppleSystemUIFont"/>
            </a:endParaRPr>
          </a:p>
          <a:p>
            <a:pPr marL="717550"/>
            <a:r>
              <a:rPr lang="fr-FR" i="1" dirty="0" err="1">
                <a:solidFill>
                  <a:srgbClr val="0E0E0E"/>
                </a:solidFill>
                <a:effectLst/>
                <a:latin typeface=".AppleSystemUIFontMonospaced"/>
              </a:rPr>
              <a:t>omprog</a:t>
            </a:r>
            <a:r>
              <a:rPr lang="fr-FR" i="1" dirty="0">
                <a:solidFill>
                  <a:srgbClr val="0E0E0E"/>
                </a:solidFill>
                <a:effectLst/>
                <a:latin typeface=".AppleSystemUIFont"/>
              </a:rPr>
              <a:t> est un </a:t>
            </a:r>
            <a:r>
              <a:rPr lang="fr-FR" b="1" i="1" dirty="0">
                <a:solidFill>
                  <a:srgbClr val="0E0E0E"/>
                </a:solidFill>
                <a:effectLst/>
                <a:latin typeface=".AppleSystemUIFont"/>
              </a:rPr>
              <a:t>module de sortie (output module)</a:t>
            </a:r>
            <a:r>
              <a:rPr lang="fr-FR" i="1" dirty="0">
                <a:solidFill>
                  <a:srgbClr val="0E0E0E"/>
                </a:solidFill>
                <a:effectLst/>
                <a:latin typeface=".AppleSystemUIFont"/>
              </a:rPr>
              <a:t> de </a:t>
            </a:r>
            <a:r>
              <a:rPr lang="fr-FR" b="1" i="1" dirty="0" err="1">
                <a:solidFill>
                  <a:srgbClr val="0E0E0E"/>
                </a:solidFill>
                <a:effectLst/>
                <a:latin typeface=".AppleSystemUIFont"/>
              </a:rPr>
              <a:t>rsyslog</a:t>
            </a:r>
            <a:r>
              <a:rPr lang="fr-FR" i="1" dirty="0">
                <a:solidFill>
                  <a:srgbClr val="0E0E0E"/>
                </a:solidFill>
                <a:effectLst/>
                <a:latin typeface=".AppleSystemUIFont"/>
              </a:rPr>
              <a:t> qui permet d’exécuter un programme externe pour traiter ou enregistrer les messages de journal. Au lieu d’écrire les messages dans un fichier, une base de données ou une autre destination standard, ce module envoie les messages à un programme tiers pour un traitement personnalisé.</a:t>
            </a:r>
          </a:p>
          <a:p>
            <a:pPr marL="717550"/>
            <a:endParaRPr lang="fr-FR" sz="1400" i="1" dirty="0">
              <a:solidFill>
                <a:srgbClr val="0E0E0E"/>
              </a:solidFill>
              <a:latin typeface=".AppleSystemUIFont"/>
            </a:endParaRPr>
          </a:p>
          <a:p>
            <a:pPr marL="717550"/>
            <a:r>
              <a:rPr lang="fr-FR" i="1" dirty="0">
                <a:solidFill>
                  <a:srgbClr val="0E0E0E"/>
                </a:solidFill>
                <a:effectLst/>
                <a:latin typeface=".AppleSystemUIFont"/>
              </a:rPr>
              <a:t>Il permet d’écrire 				</a:t>
            </a:r>
            <a:r>
              <a:rPr lang="fr-FR" dirty="0" err="1">
                <a:solidFill>
                  <a:srgbClr val="0E0E0E"/>
                </a:solidFill>
                <a:effectLst/>
                <a:latin typeface=".AppleSystemUIFont"/>
              </a:rPr>
              <a:t>mail.notice</a:t>
            </a:r>
            <a:r>
              <a:rPr lang="fr-FR" dirty="0">
                <a:solidFill>
                  <a:srgbClr val="0E0E0E"/>
                </a:solidFill>
                <a:effectLst/>
                <a:latin typeface=".AppleSystemUIFont"/>
              </a:rPr>
              <a:t>		| /</a:t>
            </a:r>
            <a:r>
              <a:rPr lang="fr-FR" dirty="0" err="1">
                <a:solidFill>
                  <a:srgbClr val="0E0E0E"/>
                </a:solidFill>
                <a:effectLst/>
                <a:latin typeface=".AppleSystemUIFont"/>
              </a:rPr>
              <a:t>usr</a:t>
            </a:r>
            <a:r>
              <a:rPr lang="fr-FR" dirty="0">
                <a:solidFill>
                  <a:srgbClr val="0E0E0E"/>
                </a:solidFill>
                <a:effectLst/>
                <a:latin typeface=".AppleSystemUIFont"/>
              </a:rPr>
              <a:t>/local/bin/</a:t>
            </a:r>
            <a:r>
              <a:rPr lang="fr-FR" dirty="0" err="1">
                <a:solidFill>
                  <a:srgbClr val="0E0E0E"/>
                </a:solidFill>
                <a:effectLst/>
                <a:latin typeface=".AppleSystemUIFont"/>
              </a:rPr>
              <a:t>send_notice.sh</a:t>
            </a:r>
            <a:endParaRPr lang="fr-FR" dirty="0">
              <a:solidFill>
                <a:srgbClr val="0E0E0E"/>
              </a:solidFill>
              <a:effectLst/>
              <a:latin typeface=".AppleSystemUIFont"/>
            </a:endParaRPr>
          </a:p>
          <a:p>
            <a:pPr marL="717550"/>
            <a:endParaRPr lang="fr-FR" sz="1400" dirty="0">
              <a:solidFill>
                <a:srgbClr val="0E0E0E"/>
              </a:solidFill>
              <a:effectLst/>
              <a:latin typeface=".AppleSystemUIFont"/>
            </a:endParaRPr>
          </a:p>
          <a:p>
            <a:pPr marL="717550"/>
            <a:r>
              <a:rPr lang="fr-FR" i="1" dirty="0">
                <a:solidFill>
                  <a:srgbClr val="0E0E0E"/>
                </a:solidFill>
                <a:latin typeface=".AppleSystemUIFont"/>
              </a:rPr>
              <a:t>Au lieu d’envoyer simplement vers un fichier 	</a:t>
            </a:r>
            <a:r>
              <a:rPr lang="fr-FR" sz="1800" dirty="0" err="1">
                <a:latin typeface="Calibri" panose="020F0502020204030204" pitchFamily="34" charset="0"/>
                <a:ea typeface="Calibri" panose="020F0502020204030204" pitchFamily="34" charset="0"/>
                <a:cs typeface="Times New Roman" panose="02020603050405020304" pitchFamily="18" charset="0"/>
              </a:rPr>
              <a:t>mail.notice</a:t>
            </a:r>
            <a:r>
              <a:rPr lang="fr-FR" sz="1800" dirty="0">
                <a:latin typeface="Calibri" panose="020F0502020204030204" pitchFamily="34" charset="0"/>
                <a:ea typeface="Calibri" panose="020F0502020204030204" pitchFamily="34" charset="0"/>
                <a:cs typeface="Times New Roman" panose="02020603050405020304" pitchFamily="18" charset="0"/>
              </a:rPr>
              <a:t>     		/var/log/mail</a:t>
            </a:r>
          </a:p>
        </p:txBody>
      </p:sp>
    </p:spTree>
    <p:extLst>
      <p:ext uri="{BB962C8B-B14F-4D97-AF65-F5344CB8AC3E}">
        <p14:creationId xmlns:p14="http://schemas.microsoft.com/office/powerpoint/2010/main" val="3258086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FBA40-92C8-A3F7-4984-8644BC066C29}"/>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49010B76-8B01-1552-9072-1577ED129FFD}"/>
              </a:ext>
            </a:extLst>
          </p:cNvPr>
          <p:cNvSpPr txBox="1"/>
          <p:nvPr/>
        </p:nvSpPr>
        <p:spPr>
          <a:xfrm>
            <a:off x="162046" y="300941"/>
            <a:ext cx="12029954" cy="6586418"/>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3 - </a:t>
            </a:r>
            <a:r>
              <a:rPr lang="fr-FR" b="1" dirty="0">
                <a:solidFill>
                  <a:srgbClr val="0E0E0E"/>
                </a:solidFill>
                <a:effectLst/>
                <a:latin typeface=".AppleSystemUIFont"/>
              </a:rPr>
              <a:t>Alertes en temps réel pour des événements critiques</a:t>
            </a:r>
            <a:endParaRPr lang="fr-FR" dirty="0">
              <a:solidFill>
                <a:srgbClr val="0E0E0E"/>
              </a:solidFill>
              <a:effectLst/>
              <a:latin typeface=".AppleSystemUIFont"/>
            </a:endParaRPr>
          </a:p>
          <a:p>
            <a:endParaRPr lang="fr-FR" dirty="0">
              <a:solidFill>
                <a:srgbClr val="0E0E0E"/>
              </a:solidFill>
              <a:effectLst/>
              <a:latin typeface=".AppleSystemUIFont"/>
            </a:endParaRPr>
          </a:p>
          <a:p>
            <a:r>
              <a:rPr lang="fr-FR" dirty="0">
                <a:solidFill>
                  <a:srgbClr val="0E0E0E"/>
                </a:solidFill>
                <a:effectLst/>
                <a:latin typeface=".AppleSystemUIFont"/>
              </a:rPr>
              <a:t>Configurer une alerte en temps réel pour tout événement critique (</a:t>
            </a:r>
            <a:r>
              <a:rPr lang="fr-FR" dirty="0" err="1">
                <a:solidFill>
                  <a:srgbClr val="0E0E0E"/>
                </a:solidFill>
                <a:effectLst/>
                <a:latin typeface=".AppleSystemUIFontMonospaced"/>
              </a:rPr>
              <a:t>crit</a:t>
            </a:r>
            <a:r>
              <a:rPr lang="fr-FR" dirty="0">
                <a:solidFill>
                  <a:srgbClr val="0E0E0E"/>
                </a:solidFill>
                <a:effectLst/>
                <a:latin typeface=".AppleSystemUIFont"/>
              </a:rPr>
              <a:t> ou supérieur) sur le système, de manière à envoyer un email automatique à un administrateur avec le contenu du journal.</a:t>
            </a:r>
            <a:br>
              <a:rPr lang="fr-FR" dirty="0">
                <a:solidFill>
                  <a:srgbClr val="0E0E0E"/>
                </a:solidFill>
                <a:effectLst/>
                <a:latin typeface=".AppleSystemUIFont"/>
              </a:rPr>
            </a:br>
            <a:endParaRPr lang="fr-FR" dirty="0">
              <a:solidFill>
                <a:srgbClr val="0E0E0E"/>
              </a:solidFill>
              <a:effectLst/>
              <a:latin typeface=".AppleSystemUIFont"/>
            </a:endParaRPr>
          </a:p>
          <a:p>
            <a:r>
              <a:rPr lang="fr-FR" dirty="0">
                <a:solidFill>
                  <a:srgbClr val="0E0E0E"/>
                </a:solidFill>
                <a:effectLst/>
                <a:latin typeface=".AppleSystemUIFont"/>
              </a:rPr>
              <a:t>1. Configurez </a:t>
            </a:r>
            <a:r>
              <a:rPr lang="fr-FR" b="1" dirty="0" err="1">
                <a:solidFill>
                  <a:srgbClr val="0E0E0E"/>
                </a:solidFill>
                <a:effectLst/>
                <a:latin typeface=".AppleSystemUIFont"/>
              </a:rPr>
              <a:t>rsyslog</a:t>
            </a:r>
            <a:r>
              <a:rPr lang="fr-FR" dirty="0">
                <a:solidFill>
                  <a:srgbClr val="0E0E0E"/>
                </a:solidFill>
                <a:effectLst/>
                <a:latin typeface=".AppleSystemUIFont"/>
              </a:rPr>
              <a:t> pour détecter les événements critiques et exécuter un script personnalisé pour envoyer un email.</a:t>
            </a:r>
          </a:p>
          <a:p>
            <a:pPr>
              <a:spcBef>
                <a:spcPts val="900"/>
              </a:spcBef>
            </a:pPr>
            <a:r>
              <a:rPr lang="fr-FR" dirty="0">
                <a:solidFill>
                  <a:srgbClr val="0E0E0E"/>
                </a:solidFill>
                <a:effectLst/>
                <a:latin typeface=".AppleSystemUIFont"/>
              </a:rPr>
              <a:t>2. Implémentez un script </a:t>
            </a:r>
            <a:r>
              <a:rPr lang="fr-FR" dirty="0" err="1">
                <a:solidFill>
                  <a:srgbClr val="0E0E0E"/>
                </a:solidFill>
                <a:effectLst/>
                <a:latin typeface=".AppleSystemUIFont"/>
              </a:rPr>
              <a:t>shell</a:t>
            </a:r>
            <a:r>
              <a:rPr lang="fr-FR" dirty="0">
                <a:solidFill>
                  <a:srgbClr val="0E0E0E"/>
                </a:solidFill>
                <a:effectLst/>
                <a:latin typeface=".AppleSystemUIFont"/>
              </a:rPr>
              <a:t> pour générer l’email avec les informations pertinentes.</a:t>
            </a:r>
          </a:p>
          <a:p>
            <a:pPr>
              <a:spcBef>
                <a:spcPts val="900"/>
              </a:spcBef>
            </a:pPr>
            <a:endParaRPr lang="fr-FR" sz="700" dirty="0">
              <a:solidFill>
                <a:srgbClr val="0E0E0E"/>
              </a:solidFill>
              <a:effectLst/>
              <a:latin typeface=".AppleSystemUIFont"/>
            </a:endParaRPr>
          </a:p>
          <a:p>
            <a:pPr marL="717550"/>
            <a:br>
              <a:rPr lang="fr-FR" sz="700" dirty="0">
                <a:solidFill>
                  <a:srgbClr val="0E0E0E"/>
                </a:solidFill>
                <a:effectLst/>
                <a:latin typeface=".AppleSystemUIFont"/>
              </a:rPr>
            </a:br>
            <a:r>
              <a:rPr lang="fr-FR" dirty="0">
                <a:solidFill>
                  <a:srgbClr val="FF0000"/>
                </a:solidFill>
                <a:effectLst/>
                <a:latin typeface=".AppleSystemUIFont"/>
              </a:rPr>
              <a:t>Dans </a:t>
            </a:r>
            <a:r>
              <a:rPr lang="fr-FR" dirty="0">
                <a:solidFill>
                  <a:srgbClr val="FF0000"/>
                </a:solidFill>
                <a:effectLst/>
                <a:latin typeface=".AppleSystemUIFontMonospaced"/>
              </a:rPr>
              <a:t>/</a:t>
            </a:r>
            <a:r>
              <a:rPr lang="fr-FR" dirty="0" err="1">
                <a:solidFill>
                  <a:srgbClr val="FF0000"/>
                </a:solidFill>
                <a:effectLst/>
                <a:latin typeface=".AppleSystemUIFontMonospaced"/>
              </a:rPr>
              <a:t>etc</a:t>
            </a:r>
            <a:r>
              <a:rPr lang="fr-FR" dirty="0">
                <a:solidFill>
                  <a:srgbClr val="FF0000"/>
                </a:solidFill>
                <a:effectLst/>
                <a:latin typeface=".AppleSystemUIFontMonospaced"/>
              </a:rPr>
              <a:t>/</a:t>
            </a:r>
            <a:r>
              <a:rPr lang="fr-FR" dirty="0" err="1">
                <a:solidFill>
                  <a:srgbClr val="FF0000"/>
                </a:solidFill>
                <a:effectLst/>
                <a:latin typeface=".AppleSystemUIFontMonospaced"/>
              </a:rPr>
              <a:t>rsyslog.conf</a:t>
            </a:r>
            <a:r>
              <a:rPr lang="fr-FR" dirty="0">
                <a:solidFill>
                  <a:srgbClr val="FF0000"/>
                </a:solidFill>
                <a:effectLst/>
                <a:latin typeface=".AppleSystemUIFont"/>
              </a:rPr>
              <a:t>, ajoutez :	</a:t>
            </a:r>
            <a:r>
              <a:rPr lang="fr-FR" dirty="0">
                <a:solidFill>
                  <a:srgbClr val="FF0000"/>
                </a:solidFill>
                <a:latin typeface=".AppleSystemUIFont"/>
              </a:rPr>
              <a:t>       </a:t>
            </a:r>
            <a:r>
              <a:rPr lang="fr-FR" dirty="0">
                <a:solidFill>
                  <a:srgbClr val="FF0000"/>
                </a:solidFill>
                <a:effectLst/>
                <a:latin typeface=".AppleSystemUIFont"/>
              </a:rPr>
              <a:t>*.</a:t>
            </a:r>
            <a:r>
              <a:rPr lang="fr-FR" dirty="0" err="1">
                <a:solidFill>
                  <a:srgbClr val="FF0000"/>
                </a:solidFill>
                <a:effectLst/>
                <a:latin typeface=".AppleSystemUIFont"/>
              </a:rPr>
              <a:t>crit</a:t>
            </a:r>
            <a:r>
              <a:rPr lang="fr-FR" dirty="0">
                <a:solidFill>
                  <a:srgbClr val="FF0000"/>
                </a:solidFill>
                <a:effectLst/>
                <a:latin typeface=".AppleSystemUIFont"/>
              </a:rPr>
              <a:t> |/</a:t>
            </a:r>
            <a:r>
              <a:rPr lang="fr-FR" dirty="0" err="1">
                <a:solidFill>
                  <a:srgbClr val="FF0000"/>
                </a:solidFill>
                <a:effectLst/>
                <a:latin typeface=".AppleSystemUIFont"/>
              </a:rPr>
              <a:t>usr</a:t>
            </a:r>
            <a:r>
              <a:rPr lang="fr-FR" dirty="0">
                <a:solidFill>
                  <a:srgbClr val="FF0000"/>
                </a:solidFill>
                <a:effectLst/>
                <a:latin typeface=".AppleSystemUIFont"/>
              </a:rPr>
              <a:t>/local/bin/</a:t>
            </a:r>
            <a:r>
              <a:rPr lang="fr-FR" dirty="0" err="1">
                <a:solidFill>
                  <a:srgbClr val="FF0000"/>
                </a:solidFill>
                <a:effectLst/>
                <a:latin typeface=".AppleSystemUIFont"/>
              </a:rPr>
              <a:t>send_alert.sh</a:t>
            </a:r>
            <a:endParaRPr lang="fr-FR" dirty="0">
              <a:solidFill>
                <a:srgbClr val="FF0000"/>
              </a:solidFill>
              <a:effectLst/>
              <a:latin typeface=".AppleSystemUIFont"/>
            </a:endParaRPr>
          </a:p>
          <a:p>
            <a:pPr marL="717550"/>
            <a:endParaRPr lang="fr-FR" dirty="0">
              <a:solidFill>
                <a:srgbClr val="FF0000"/>
              </a:solidFill>
              <a:latin typeface=".AppleSystemUIFont"/>
            </a:endParaRPr>
          </a:p>
          <a:p>
            <a:pPr marL="717550"/>
            <a:r>
              <a:rPr lang="fr-FR" dirty="0">
                <a:solidFill>
                  <a:srgbClr val="FF0000"/>
                </a:solidFill>
                <a:effectLst/>
                <a:latin typeface=".AppleSystemUIFont"/>
              </a:rPr>
              <a:t>Créez un script </a:t>
            </a:r>
            <a:r>
              <a:rPr lang="fr-FR" dirty="0">
                <a:solidFill>
                  <a:srgbClr val="FF0000"/>
                </a:solidFill>
                <a:effectLst/>
                <a:latin typeface=".AppleSystemUIFontMonospaced"/>
              </a:rPr>
              <a:t>/</a:t>
            </a:r>
            <a:r>
              <a:rPr lang="fr-FR" dirty="0" err="1">
                <a:solidFill>
                  <a:srgbClr val="FF0000"/>
                </a:solidFill>
                <a:effectLst/>
                <a:latin typeface=".AppleSystemUIFontMonospaced"/>
              </a:rPr>
              <a:t>usr</a:t>
            </a:r>
            <a:r>
              <a:rPr lang="fr-FR" dirty="0">
                <a:solidFill>
                  <a:srgbClr val="FF0000"/>
                </a:solidFill>
                <a:effectLst/>
                <a:latin typeface=".AppleSystemUIFontMonospaced"/>
              </a:rPr>
              <a:t>/local/bin/</a:t>
            </a:r>
            <a:r>
              <a:rPr lang="fr-FR" dirty="0" err="1">
                <a:solidFill>
                  <a:srgbClr val="FF0000"/>
                </a:solidFill>
                <a:effectLst/>
                <a:latin typeface=".AppleSystemUIFontMonospaced"/>
              </a:rPr>
              <a:t>send_alert.sh</a:t>
            </a:r>
            <a:r>
              <a:rPr lang="fr-FR" dirty="0">
                <a:solidFill>
                  <a:srgbClr val="FF0000"/>
                </a:solidFill>
                <a:effectLst/>
                <a:latin typeface=".AppleSystemUIFont"/>
              </a:rPr>
              <a:t> :</a:t>
            </a:r>
            <a:r>
              <a:rPr lang="fr-FR" dirty="0">
                <a:solidFill>
                  <a:srgbClr val="FF0000"/>
                </a:solidFill>
                <a:latin typeface=".AppleSystemUIFontMonospaced"/>
              </a:rPr>
              <a:t> </a:t>
            </a:r>
          </a:p>
          <a:p>
            <a:pPr marL="717550"/>
            <a:r>
              <a:rPr lang="fr-FR" sz="1100" dirty="0">
                <a:solidFill>
                  <a:srgbClr val="FF0000"/>
                </a:solidFill>
                <a:latin typeface=".AppleSystemUIFontMonospaced"/>
              </a:rPr>
              <a:t>       </a:t>
            </a:r>
            <a:endParaRPr lang="fr-FR" dirty="0">
              <a:solidFill>
                <a:srgbClr val="FF0000"/>
              </a:solidFill>
              <a:latin typeface=".AppleSystemUIFontMonospaced"/>
            </a:endParaRPr>
          </a:p>
          <a:p>
            <a:pPr marL="5027613"/>
            <a:r>
              <a:rPr lang="fr-FR" dirty="0">
                <a:solidFill>
                  <a:srgbClr val="FF0000"/>
                </a:solidFill>
                <a:effectLst/>
                <a:latin typeface=".AppleSystemUIFontMonospaced"/>
              </a:rPr>
              <a:t>#!/bin/</a:t>
            </a:r>
            <a:r>
              <a:rPr lang="fr-FR" dirty="0" err="1">
                <a:solidFill>
                  <a:srgbClr val="FF0000"/>
                </a:solidFill>
                <a:effectLst/>
                <a:latin typeface=".AppleSystemUIFontMonospaced"/>
              </a:rPr>
              <a:t>bash</a:t>
            </a:r>
            <a:endParaRPr lang="fr-FR" dirty="0">
              <a:solidFill>
                <a:srgbClr val="FF0000"/>
              </a:solidFill>
              <a:effectLst/>
              <a:latin typeface=".AppleSystemUIFontMonospaced"/>
            </a:endParaRPr>
          </a:p>
          <a:p>
            <a:pPr marL="5027613"/>
            <a:r>
              <a:rPr lang="fr-FR" dirty="0" err="1">
                <a:solidFill>
                  <a:srgbClr val="FF0000"/>
                </a:solidFill>
                <a:effectLst/>
                <a:latin typeface=".AppleSystemUIFontMonospaced"/>
              </a:rPr>
              <a:t>while</a:t>
            </a:r>
            <a:r>
              <a:rPr lang="fr-FR" dirty="0">
                <a:solidFill>
                  <a:srgbClr val="FF0000"/>
                </a:solidFill>
                <a:effectLst/>
                <a:latin typeface=".AppleSystemUIFontMonospaced"/>
              </a:rPr>
              <a:t> </a:t>
            </a:r>
            <a:r>
              <a:rPr lang="fr-FR" dirty="0" err="1">
                <a:solidFill>
                  <a:srgbClr val="FF0000"/>
                </a:solidFill>
                <a:effectLst/>
                <a:latin typeface=".AppleSystemUIFontMonospaced"/>
              </a:rPr>
              <a:t>read</a:t>
            </a:r>
            <a:r>
              <a:rPr lang="fr-FR" dirty="0">
                <a:solidFill>
                  <a:srgbClr val="FF0000"/>
                </a:solidFill>
                <a:effectLst/>
                <a:latin typeface=".AppleSystemUIFontMonospaced"/>
              </a:rPr>
              <a:t> line; do</a:t>
            </a:r>
          </a:p>
          <a:p>
            <a:pPr marL="5027613"/>
            <a:r>
              <a:rPr lang="fr-FR" dirty="0">
                <a:solidFill>
                  <a:srgbClr val="FF0000"/>
                </a:solidFill>
                <a:effectLst/>
                <a:latin typeface=".AppleSystemUIFontMonospaced"/>
              </a:rPr>
              <a:t>    </a:t>
            </a:r>
            <a:r>
              <a:rPr lang="fr-FR" dirty="0" err="1">
                <a:solidFill>
                  <a:srgbClr val="FF0000"/>
                </a:solidFill>
                <a:effectLst/>
                <a:latin typeface=".AppleSystemUIFontMonospaced"/>
              </a:rPr>
              <a:t>echo</a:t>
            </a:r>
            <a:r>
              <a:rPr lang="fr-FR" dirty="0">
                <a:solidFill>
                  <a:srgbClr val="FF0000"/>
                </a:solidFill>
                <a:effectLst/>
                <a:latin typeface=".AppleSystemUIFontMonospaced"/>
              </a:rPr>
              <a:t> "$line" | </a:t>
            </a:r>
            <a:r>
              <a:rPr lang="fr-FR" dirty="0" err="1">
                <a:solidFill>
                  <a:srgbClr val="FF0000"/>
                </a:solidFill>
                <a:effectLst/>
                <a:latin typeface=".AppleSystemUIFontMonospaced"/>
              </a:rPr>
              <a:t>mailx</a:t>
            </a:r>
            <a:r>
              <a:rPr lang="fr-FR" dirty="0">
                <a:solidFill>
                  <a:srgbClr val="FF0000"/>
                </a:solidFill>
                <a:effectLst/>
                <a:latin typeface=".AppleSystemUIFontMonospaced"/>
              </a:rPr>
              <a:t> -s "Alerte critique détectée" </a:t>
            </a:r>
            <a:r>
              <a:rPr lang="fr-FR" dirty="0" err="1">
                <a:solidFill>
                  <a:srgbClr val="FF0000"/>
                </a:solidFill>
                <a:effectLst/>
                <a:latin typeface=".AppleSystemUIFontMonospaced"/>
              </a:rPr>
              <a:t>admin@example.com</a:t>
            </a:r>
            <a:endParaRPr lang="fr-FR" dirty="0">
              <a:solidFill>
                <a:srgbClr val="FF0000"/>
              </a:solidFill>
              <a:effectLst/>
              <a:latin typeface=".AppleSystemUIFontMonospaced"/>
            </a:endParaRPr>
          </a:p>
          <a:p>
            <a:pPr marL="5027613"/>
            <a:r>
              <a:rPr lang="fr-FR" dirty="0" err="1">
                <a:solidFill>
                  <a:srgbClr val="FF0000"/>
                </a:solidFill>
                <a:effectLst/>
                <a:latin typeface=".AppleSystemUIFontMonospaced"/>
              </a:rPr>
              <a:t>done</a:t>
            </a:r>
            <a:endParaRPr lang="fr-FR" dirty="0">
              <a:solidFill>
                <a:srgbClr val="FF0000"/>
              </a:solidFill>
              <a:effectLst/>
              <a:latin typeface=".AppleSystemUIFontMonospaced"/>
            </a:endParaRPr>
          </a:p>
          <a:p>
            <a:pPr marL="717550"/>
            <a:endParaRPr lang="fr-FR" dirty="0">
              <a:solidFill>
                <a:srgbClr val="FF0000"/>
              </a:solidFill>
              <a:effectLst/>
              <a:latin typeface=".AppleSystemUIFont"/>
            </a:endParaRPr>
          </a:p>
          <a:p>
            <a:pPr marL="717550"/>
            <a:r>
              <a:rPr lang="fr-FR" dirty="0">
                <a:solidFill>
                  <a:srgbClr val="FF0000"/>
                </a:solidFill>
                <a:effectLst/>
                <a:latin typeface=".AppleSystemUIFont"/>
              </a:rPr>
              <a:t>Rendez-le exécutable :</a:t>
            </a:r>
            <a:r>
              <a:rPr lang="fr-FR" dirty="0">
                <a:solidFill>
                  <a:srgbClr val="FF0000"/>
                </a:solidFill>
                <a:latin typeface=".AppleSystemUIFont"/>
              </a:rPr>
              <a:t>		        </a:t>
            </a:r>
            <a:r>
              <a:rPr lang="fr-FR" dirty="0">
                <a:solidFill>
                  <a:srgbClr val="FF0000"/>
                </a:solidFill>
                <a:effectLst/>
                <a:latin typeface=".AppleSystemUIFont"/>
              </a:rPr>
              <a:t>chmod +x /</a:t>
            </a:r>
            <a:r>
              <a:rPr lang="fr-FR" dirty="0" err="1">
                <a:solidFill>
                  <a:srgbClr val="FF0000"/>
                </a:solidFill>
                <a:effectLst/>
                <a:latin typeface=".AppleSystemUIFont"/>
              </a:rPr>
              <a:t>usr</a:t>
            </a:r>
            <a:r>
              <a:rPr lang="fr-FR" dirty="0">
                <a:solidFill>
                  <a:srgbClr val="FF0000"/>
                </a:solidFill>
                <a:effectLst/>
                <a:latin typeface=".AppleSystemUIFont"/>
              </a:rPr>
              <a:t>/local/bin/</a:t>
            </a:r>
            <a:r>
              <a:rPr lang="fr-FR" dirty="0" err="1">
                <a:solidFill>
                  <a:srgbClr val="FF0000"/>
                </a:solidFill>
                <a:effectLst/>
                <a:latin typeface=".AppleSystemUIFont"/>
              </a:rPr>
              <a:t>send_alert.sh</a:t>
            </a:r>
            <a:endParaRPr lang="fr-FR" dirty="0">
              <a:solidFill>
                <a:srgbClr val="FF0000"/>
              </a:solidFill>
              <a:effectLst/>
              <a:latin typeface=".AppleSystemUIFont"/>
            </a:endParaRPr>
          </a:p>
          <a:p>
            <a:pPr marL="717550"/>
            <a:endParaRPr lang="fr-FR" dirty="0">
              <a:solidFill>
                <a:srgbClr val="FF0000"/>
              </a:solidFill>
              <a:effectLst/>
              <a:latin typeface=".AppleSystemUIFont"/>
            </a:endParaRPr>
          </a:p>
          <a:p>
            <a:pPr marL="717550"/>
            <a:r>
              <a:rPr lang="fr-FR" dirty="0">
                <a:solidFill>
                  <a:srgbClr val="FF0000"/>
                </a:solidFill>
                <a:effectLst/>
                <a:latin typeface=".AppleSystemUIFont"/>
              </a:rPr>
              <a:t>Redémarrez </a:t>
            </a:r>
            <a:r>
              <a:rPr lang="fr-FR" dirty="0" err="1">
                <a:solidFill>
                  <a:srgbClr val="FF0000"/>
                </a:solidFill>
                <a:effectLst/>
                <a:latin typeface=".AppleSystemUIFont"/>
              </a:rPr>
              <a:t>rsyslog</a:t>
            </a:r>
            <a:r>
              <a:rPr lang="fr-FR" dirty="0">
                <a:solidFill>
                  <a:srgbClr val="FF0000"/>
                </a:solidFill>
                <a:effectLst/>
                <a:latin typeface=".AppleSystemUIFont"/>
              </a:rPr>
              <a:t> pour appliquer la configuration : </a:t>
            </a:r>
          </a:p>
          <a:p>
            <a:pPr marL="717550"/>
            <a:r>
              <a:rPr lang="fr-FR" dirty="0">
                <a:solidFill>
                  <a:srgbClr val="FF0000"/>
                </a:solidFill>
                <a:latin typeface=".AppleSystemUIFont"/>
              </a:rPr>
              <a:t>					        </a:t>
            </a:r>
            <a:r>
              <a:rPr lang="fr-FR" dirty="0" err="1">
                <a:solidFill>
                  <a:srgbClr val="FF0000"/>
                </a:solidFill>
                <a:effectLst/>
                <a:latin typeface=".AppleSystemUIFontMonospaced"/>
              </a:rPr>
              <a:t>sudo</a:t>
            </a:r>
            <a:r>
              <a:rPr lang="fr-FR" dirty="0">
                <a:solidFill>
                  <a:srgbClr val="FF0000"/>
                </a:solidFill>
                <a:effectLst/>
                <a:latin typeface=".AppleSystemUIFontMonospaced"/>
              </a:rPr>
              <a:t> </a:t>
            </a:r>
            <a:r>
              <a:rPr lang="fr-FR" dirty="0" err="1">
                <a:solidFill>
                  <a:srgbClr val="FF0000"/>
                </a:solidFill>
                <a:effectLst/>
                <a:latin typeface=".AppleSystemUIFontMonospaced"/>
              </a:rPr>
              <a:t>systemctl</a:t>
            </a:r>
            <a:r>
              <a:rPr lang="fr-FR" dirty="0">
                <a:solidFill>
                  <a:srgbClr val="FF0000"/>
                </a:solidFill>
                <a:effectLst/>
                <a:latin typeface=".AppleSystemUIFontMonospaced"/>
              </a:rPr>
              <a:t> restart </a:t>
            </a:r>
            <a:r>
              <a:rPr lang="fr-FR" dirty="0" err="1">
                <a:solidFill>
                  <a:srgbClr val="FF0000"/>
                </a:solidFill>
                <a:effectLst/>
                <a:latin typeface=".AppleSystemUIFontMonospaced"/>
              </a:rPr>
              <a:t>rsyslog</a:t>
            </a:r>
            <a:r>
              <a:rPr lang="fr-FR" dirty="0">
                <a:solidFill>
                  <a:srgbClr val="FF0000"/>
                </a:solidFill>
                <a:effectLst/>
                <a:latin typeface=".AppleSystemUIFontMonospaced"/>
              </a:rPr>
              <a:t>       	ou    </a:t>
            </a:r>
          </a:p>
          <a:p>
            <a:pPr marL="717550"/>
            <a:r>
              <a:rPr lang="fr-FR" dirty="0">
                <a:solidFill>
                  <a:srgbClr val="FF0000"/>
                </a:solidFill>
                <a:latin typeface=".AppleSystemUIFontMonospaced"/>
              </a:rPr>
              <a:t>				       	  </a:t>
            </a:r>
            <a:r>
              <a:rPr lang="fr-FR" dirty="0">
                <a:solidFill>
                  <a:srgbClr val="FF0000"/>
                </a:solidFill>
                <a:latin typeface=".AppleSystemUIFont"/>
              </a:rPr>
              <a:t> </a:t>
            </a:r>
            <a:r>
              <a:rPr lang="fr-FR" dirty="0">
                <a:solidFill>
                  <a:srgbClr val="FF0000"/>
                </a:solidFill>
                <a:latin typeface=".AppleSystemUIFontMonospaced"/>
              </a:rPr>
              <a:t> </a:t>
            </a:r>
            <a:r>
              <a:rPr lang="fr-FR" dirty="0">
                <a:solidFill>
                  <a:srgbClr val="FF0000"/>
                </a:solidFill>
                <a:latin typeface=".AppleSystemUIFont"/>
              </a:rPr>
              <a:t>    </a:t>
            </a:r>
            <a:r>
              <a:rPr lang="fr-FR" dirty="0" err="1">
                <a:solidFill>
                  <a:srgbClr val="FF0000"/>
                </a:solidFill>
                <a:effectLst/>
                <a:latin typeface=".AppleSystemUIFontMonospaced"/>
              </a:rPr>
              <a:t>sudo</a:t>
            </a:r>
            <a:r>
              <a:rPr lang="fr-FR" dirty="0">
                <a:solidFill>
                  <a:srgbClr val="FF0000"/>
                </a:solidFill>
                <a:effectLst/>
                <a:latin typeface=".AppleSystemUIFontMonospaced"/>
              </a:rPr>
              <a:t> service </a:t>
            </a:r>
            <a:r>
              <a:rPr lang="fr-FR" dirty="0" err="1">
                <a:solidFill>
                  <a:srgbClr val="FF0000"/>
                </a:solidFill>
                <a:effectLst/>
                <a:latin typeface=".AppleSystemUIFontMonospaced"/>
              </a:rPr>
              <a:t>rsyslog</a:t>
            </a:r>
            <a:r>
              <a:rPr lang="fr-FR" dirty="0">
                <a:solidFill>
                  <a:srgbClr val="FF0000"/>
                </a:solidFill>
                <a:effectLst/>
                <a:latin typeface=".AppleSystemUIFontMonospaced"/>
              </a:rPr>
              <a:t> restart    	ou 							       	        </a:t>
            </a:r>
            <a:r>
              <a:rPr lang="fr-FR" dirty="0" err="1">
                <a:solidFill>
                  <a:srgbClr val="FF0000"/>
                </a:solidFill>
                <a:effectLst/>
                <a:latin typeface=".AppleSystemUIFontMonospaced"/>
              </a:rPr>
              <a:t>sudo</a:t>
            </a:r>
            <a:r>
              <a:rPr lang="fr-FR" dirty="0">
                <a:solidFill>
                  <a:srgbClr val="FF0000"/>
                </a:solidFill>
                <a:effectLst/>
                <a:latin typeface=".AppleSystemUIFontMonospaced"/>
              </a:rPr>
              <a:t> </a:t>
            </a:r>
            <a:r>
              <a:rPr lang="fr-FR" dirty="0" err="1">
                <a:solidFill>
                  <a:srgbClr val="FF0000"/>
                </a:solidFill>
                <a:effectLst/>
                <a:latin typeface=".AppleSystemUIFontMonospaced"/>
              </a:rPr>
              <a:t>killall</a:t>
            </a:r>
            <a:r>
              <a:rPr lang="fr-FR" dirty="0">
                <a:solidFill>
                  <a:srgbClr val="FF0000"/>
                </a:solidFill>
                <a:effectLst/>
                <a:latin typeface=".AppleSystemUIFontMonospaced"/>
              </a:rPr>
              <a:t> </a:t>
            </a:r>
            <a:r>
              <a:rPr lang="fr-FR" dirty="0" err="1">
                <a:solidFill>
                  <a:srgbClr val="FF0000"/>
                </a:solidFill>
                <a:effectLst/>
                <a:latin typeface=".AppleSystemUIFontMonospaced"/>
              </a:rPr>
              <a:t>rsyslogd</a:t>
            </a:r>
            <a:endParaRPr lang="fr-FR" dirty="0">
              <a:solidFill>
                <a:srgbClr val="FF0000"/>
              </a:solidFill>
              <a:effectLst/>
              <a:latin typeface=".AppleSystemUIFontMonospaced"/>
            </a:endParaRPr>
          </a:p>
        </p:txBody>
      </p:sp>
    </p:spTree>
    <p:extLst>
      <p:ext uri="{BB962C8B-B14F-4D97-AF65-F5344CB8AC3E}">
        <p14:creationId xmlns:p14="http://schemas.microsoft.com/office/powerpoint/2010/main" val="417513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31A1-A11D-1870-D446-DBB52B0F3AF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744DFD9-5143-B9F9-258D-17E7CD186F86}"/>
              </a:ext>
            </a:extLst>
          </p:cNvPr>
          <p:cNvSpPr/>
          <p:nvPr/>
        </p:nvSpPr>
        <p:spPr>
          <a:xfrm>
            <a:off x="0" y="0"/>
            <a:ext cx="12192000" cy="6858000"/>
          </a:xfrm>
          <a:prstGeom prst="rect">
            <a:avLst/>
          </a:prstGeom>
          <a:noFill/>
          <a:ln w="5715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06095C4D-CC90-BAF0-0D3E-3C05A3E92689}"/>
              </a:ext>
            </a:extLst>
          </p:cNvPr>
          <p:cNvSpPr txBox="1"/>
          <p:nvPr/>
        </p:nvSpPr>
        <p:spPr>
          <a:xfrm>
            <a:off x="1515259" y="2767280"/>
            <a:ext cx="9252825" cy="1323439"/>
          </a:xfrm>
          <a:prstGeom prst="rect">
            <a:avLst/>
          </a:prstGeom>
          <a:noFill/>
        </p:spPr>
        <p:txBody>
          <a:bodyPr wrap="square" rtlCol="0">
            <a:spAutoFit/>
          </a:bodyPr>
          <a:lstStyle/>
          <a:p>
            <a:pPr algn="ctr"/>
            <a:r>
              <a:rPr lang="fr-FR" sz="8000" b="1" dirty="0"/>
              <a:t>TD 3.2</a:t>
            </a:r>
            <a:endParaRPr lang="fr-FR" sz="3600" b="1" dirty="0"/>
          </a:p>
        </p:txBody>
      </p:sp>
    </p:spTree>
    <p:extLst>
      <p:ext uri="{BB962C8B-B14F-4D97-AF65-F5344CB8AC3E}">
        <p14:creationId xmlns:p14="http://schemas.microsoft.com/office/powerpoint/2010/main" val="2926084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B886-1A9B-62E3-F136-9D19644E8D6F}"/>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74E8A73F-6E90-B54A-40D1-489EC6FDAF48}"/>
              </a:ext>
            </a:extLst>
          </p:cNvPr>
          <p:cNvSpPr txBox="1"/>
          <p:nvPr/>
        </p:nvSpPr>
        <p:spPr>
          <a:xfrm>
            <a:off x="162046" y="300941"/>
            <a:ext cx="11655706" cy="1477328"/>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4 - </a:t>
            </a:r>
            <a:r>
              <a:rPr lang="fr-FR" b="1" dirty="0">
                <a:solidFill>
                  <a:srgbClr val="0E0E0E"/>
                </a:solidFill>
                <a:effectLst/>
                <a:latin typeface=".AppleSystemUIFont"/>
              </a:rPr>
              <a:t>Configurer </a:t>
            </a:r>
            <a:r>
              <a:rPr lang="fr-FR" b="1" dirty="0" err="1">
                <a:solidFill>
                  <a:srgbClr val="0E0E0E"/>
                </a:solidFill>
                <a:effectLst/>
                <a:latin typeface=".AppleSystemUIFont"/>
              </a:rPr>
              <a:t>rsyslog</a:t>
            </a:r>
            <a:r>
              <a:rPr lang="fr-FR" b="1" dirty="0">
                <a:solidFill>
                  <a:srgbClr val="0E0E0E"/>
                </a:solidFill>
                <a:effectLst/>
                <a:latin typeface=".AppleSystemUIFont"/>
              </a:rPr>
              <a:t> pour envoyer des journaux à un serveur distant</a:t>
            </a:r>
            <a:endParaRPr lang="fr-FR" dirty="0">
              <a:solidFill>
                <a:srgbClr val="0E0E0E"/>
              </a:solidFill>
              <a:effectLst/>
              <a:latin typeface=".AppleSystemUIFont"/>
            </a:endParaRPr>
          </a:p>
          <a:p>
            <a:br>
              <a:rPr lang="fr-FR" dirty="0">
                <a:solidFill>
                  <a:srgbClr val="0E0E0E"/>
                </a:solidFill>
                <a:effectLst/>
                <a:latin typeface=".AppleSystemUIFont"/>
              </a:rPr>
            </a:br>
            <a:r>
              <a:rPr lang="fr-FR" dirty="0">
                <a:solidFill>
                  <a:srgbClr val="0E0E0E"/>
                </a:solidFill>
                <a:effectLst/>
                <a:latin typeface=".AppleSystemUIFont"/>
              </a:rPr>
              <a:t>Configurer un serveur Unix pour envoyer tous les messages de journal à un serveur distant ayant l’adresse IP </a:t>
            </a:r>
            <a:r>
              <a:rPr lang="fr-FR" dirty="0">
                <a:solidFill>
                  <a:srgbClr val="0E0E0E"/>
                </a:solidFill>
                <a:effectLst/>
                <a:latin typeface=".AppleSystemUIFontMonospaced"/>
              </a:rPr>
              <a:t>192.168.1.100</a:t>
            </a:r>
            <a:r>
              <a:rPr lang="fr-FR" dirty="0">
                <a:solidFill>
                  <a:srgbClr val="0E0E0E"/>
                </a:solidFill>
                <a:effectLst/>
                <a:latin typeface=".AppleSystemUIFont"/>
              </a:rPr>
              <a:t> sur le port UDP </a:t>
            </a:r>
            <a:r>
              <a:rPr lang="fr-FR" b="1" dirty="0">
                <a:solidFill>
                  <a:srgbClr val="0E0E0E"/>
                </a:solidFill>
                <a:effectLst/>
                <a:latin typeface=".AppleSystemUIFont"/>
              </a:rPr>
              <a:t>514</a:t>
            </a:r>
            <a:r>
              <a:rPr lang="fr-FR" dirty="0">
                <a:solidFill>
                  <a:srgbClr val="0E0E0E"/>
                </a:solidFill>
                <a:effectLst/>
                <a:latin typeface=".AppleSystemUIFont"/>
              </a:rPr>
              <a:t>.</a:t>
            </a:r>
          </a:p>
          <a:p>
            <a:endParaRPr lang="fr-FR" dirty="0">
              <a:solidFill>
                <a:srgbClr val="000000"/>
              </a:solidFill>
              <a:effectLst/>
              <a:latin typeface=".AppleSystemUIFontMonospaced"/>
            </a:endParaRPr>
          </a:p>
        </p:txBody>
      </p:sp>
    </p:spTree>
    <p:extLst>
      <p:ext uri="{BB962C8B-B14F-4D97-AF65-F5344CB8AC3E}">
        <p14:creationId xmlns:p14="http://schemas.microsoft.com/office/powerpoint/2010/main" val="2805775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F8C8-EF1E-5F5F-9496-73DB79DAFB61}"/>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E1835F5F-2CAA-7834-440D-14F50E3812E4}"/>
              </a:ext>
            </a:extLst>
          </p:cNvPr>
          <p:cNvSpPr txBox="1"/>
          <p:nvPr/>
        </p:nvSpPr>
        <p:spPr>
          <a:xfrm>
            <a:off x="162046" y="300941"/>
            <a:ext cx="11655706" cy="4524315"/>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4 - </a:t>
            </a:r>
            <a:r>
              <a:rPr lang="fr-FR" b="1" dirty="0">
                <a:solidFill>
                  <a:srgbClr val="0E0E0E"/>
                </a:solidFill>
                <a:effectLst/>
                <a:latin typeface=".AppleSystemUIFont"/>
              </a:rPr>
              <a:t>Configurer </a:t>
            </a:r>
            <a:r>
              <a:rPr lang="fr-FR" b="1" dirty="0" err="1">
                <a:solidFill>
                  <a:srgbClr val="0E0E0E"/>
                </a:solidFill>
                <a:effectLst/>
                <a:latin typeface=".AppleSystemUIFont"/>
              </a:rPr>
              <a:t>rsyslog</a:t>
            </a:r>
            <a:r>
              <a:rPr lang="fr-FR" b="1" dirty="0">
                <a:solidFill>
                  <a:srgbClr val="0E0E0E"/>
                </a:solidFill>
                <a:effectLst/>
                <a:latin typeface=".AppleSystemUIFont"/>
              </a:rPr>
              <a:t> pour envoyer des journaux à un serveur distant</a:t>
            </a:r>
            <a:endParaRPr lang="fr-FR" dirty="0">
              <a:solidFill>
                <a:srgbClr val="0E0E0E"/>
              </a:solidFill>
              <a:effectLst/>
              <a:latin typeface=".AppleSystemUIFont"/>
            </a:endParaRPr>
          </a:p>
          <a:p>
            <a:br>
              <a:rPr lang="fr-FR" dirty="0">
                <a:solidFill>
                  <a:srgbClr val="0E0E0E"/>
                </a:solidFill>
                <a:effectLst/>
                <a:latin typeface=".AppleSystemUIFont"/>
              </a:rPr>
            </a:br>
            <a:r>
              <a:rPr lang="fr-FR" dirty="0">
                <a:solidFill>
                  <a:srgbClr val="0E0E0E"/>
                </a:solidFill>
                <a:effectLst/>
                <a:latin typeface=".AppleSystemUIFont"/>
              </a:rPr>
              <a:t>Configurer un serveur Unix pour envoyer tous les messages de journal à un serveur distant ayant l’adresse IP </a:t>
            </a:r>
            <a:r>
              <a:rPr lang="fr-FR" dirty="0">
                <a:solidFill>
                  <a:srgbClr val="0E0E0E"/>
                </a:solidFill>
                <a:effectLst/>
                <a:latin typeface=".AppleSystemUIFontMonospaced"/>
              </a:rPr>
              <a:t>192.168.1.100</a:t>
            </a:r>
            <a:r>
              <a:rPr lang="fr-FR" dirty="0">
                <a:solidFill>
                  <a:srgbClr val="0E0E0E"/>
                </a:solidFill>
                <a:effectLst/>
                <a:latin typeface=".AppleSystemUIFont"/>
              </a:rPr>
              <a:t> sur le port UDP </a:t>
            </a:r>
            <a:r>
              <a:rPr lang="fr-FR" b="1" dirty="0">
                <a:solidFill>
                  <a:srgbClr val="0E0E0E"/>
                </a:solidFill>
                <a:effectLst/>
                <a:latin typeface=".AppleSystemUIFont"/>
              </a:rPr>
              <a:t>514</a:t>
            </a:r>
            <a:r>
              <a:rPr lang="fr-FR" dirty="0">
                <a:solidFill>
                  <a:srgbClr val="0E0E0E"/>
                </a:solidFill>
                <a:effectLst/>
                <a:latin typeface=".AppleSystemUIFont"/>
              </a:rPr>
              <a:t>.</a:t>
            </a:r>
          </a:p>
          <a:p>
            <a:endParaRPr lang="fr-FR" dirty="0">
              <a:solidFill>
                <a:srgbClr val="0E0E0E"/>
              </a:solidFill>
              <a:latin typeface=".AppleSystemUIFont"/>
            </a:endParaRPr>
          </a:p>
          <a:p>
            <a:endParaRPr lang="fr-FR" dirty="0">
              <a:solidFill>
                <a:srgbClr val="0E0E0E"/>
              </a:solidFill>
              <a:effectLst/>
              <a:latin typeface=".AppleSystemUIFont"/>
            </a:endParaRPr>
          </a:p>
          <a:p>
            <a:pPr marL="717550"/>
            <a:endParaRPr lang="fr-FR" dirty="0">
              <a:solidFill>
                <a:srgbClr val="000000"/>
              </a:solidFill>
              <a:effectLst/>
              <a:latin typeface=".AppleSystemUIFontMonospaced"/>
            </a:endParaRPr>
          </a:p>
          <a:p>
            <a:pPr marL="717550"/>
            <a:r>
              <a:rPr lang="fr-FR" dirty="0">
                <a:solidFill>
                  <a:srgbClr val="FF0000"/>
                </a:solidFill>
                <a:effectLst/>
                <a:latin typeface=".AppleSystemUIFont"/>
              </a:rPr>
              <a:t>Ouvrez </a:t>
            </a:r>
            <a:r>
              <a:rPr lang="fr-FR" dirty="0">
                <a:solidFill>
                  <a:srgbClr val="FF0000"/>
                </a:solidFill>
                <a:effectLst/>
                <a:latin typeface=".AppleSystemUIFontMonospaced"/>
              </a:rPr>
              <a:t>/</a:t>
            </a:r>
            <a:r>
              <a:rPr lang="fr-FR" dirty="0" err="1">
                <a:solidFill>
                  <a:srgbClr val="FF0000"/>
                </a:solidFill>
                <a:effectLst/>
                <a:latin typeface=".AppleSystemUIFontMonospaced"/>
              </a:rPr>
              <a:t>etc</a:t>
            </a:r>
            <a:r>
              <a:rPr lang="fr-FR" dirty="0">
                <a:solidFill>
                  <a:srgbClr val="FF0000"/>
                </a:solidFill>
                <a:effectLst/>
                <a:latin typeface=".AppleSystemUIFontMonospaced"/>
              </a:rPr>
              <a:t>/</a:t>
            </a:r>
            <a:r>
              <a:rPr lang="fr-FR" dirty="0" err="1">
                <a:solidFill>
                  <a:srgbClr val="FF0000"/>
                </a:solidFill>
                <a:effectLst/>
                <a:latin typeface=".AppleSystemUIFontMonospaced"/>
              </a:rPr>
              <a:t>rsyslog.conf</a:t>
            </a:r>
            <a:r>
              <a:rPr lang="fr-FR" dirty="0">
                <a:solidFill>
                  <a:srgbClr val="FF0000"/>
                </a:solidFill>
                <a:effectLst/>
                <a:latin typeface=".AppleSystemUIFont"/>
              </a:rPr>
              <a:t> sur le client et ajoutez la ligne suivante pour envoyer les journaux au serveur distant :</a:t>
            </a:r>
          </a:p>
          <a:p>
            <a:pPr marL="717550"/>
            <a:endParaRPr lang="fr-FR" dirty="0">
              <a:solidFill>
                <a:srgbClr val="FF0000"/>
              </a:solidFill>
              <a:effectLst/>
              <a:latin typeface=".AppleSystemUIFont"/>
            </a:endParaRPr>
          </a:p>
          <a:p>
            <a:pPr marL="717550" algn="ctr"/>
            <a:r>
              <a:rPr lang="fr-FR" dirty="0">
                <a:solidFill>
                  <a:srgbClr val="FF0000"/>
                </a:solidFill>
                <a:effectLst/>
                <a:latin typeface=".AppleSystemUIFont"/>
              </a:rPr>
              <a:t>*.* @192.168.1.100:514</a:t>
            </a:r>
          </a:p>
          <a:p>
            <a:pPr marL="717550"/>
            <a:endParaRPr lang="fr-FR" dirty="0">
              <a:solidFill>
                <a:srgbClr val="FF0000"/>
              </a:solidFill>
              <a:effectLst/>
              <a:latin typeface=".AppleSystemUIFontMonospaced"/>
            </a:endParaRPr>
          </a:p>
          <a:p>
            <a:pPr marL="717550"/>
            <a:endParaRPr lang="fr-FR" dirty="0">
              <a:solidFill>
                <a:srgbClr val="FF0000"/>
              </a:solidFill>
              <a:effectLst/>
              <a:latin typeface=".AppleSystemUIFontMonospaced"/>
            </a:endParaRPr>
          </a:p>
          <a:p>
            <a:pPr marL="717550"/>
            <a:r>
              <a:rPr lang="fr-FR" dirty="0">
                <a:solidFill>
                  <a:srgbClr val="FF0000"/>
                </a:solidFill>
                <a:effectLst/>
                <a:latin typeface=".AppleSystemUIFont"/>
              </a:rPr>
              <a:t>Si vous voulez utiliser TCP (plus fiable qu’UDP qui ne garanti pas la livraison des messages) pour plus de fiabilité, utilisez </a:t>
            </a:r>
            <a:r>
              <a:rPr lang="fr-FR" dirty="0">
                <a:solidFill>
                  <a:srgbClr val="FF0000"/>
                </a:solidFill>
                <a:effectLst/>
                <a:latin typeface=".AppleSystemUIFontMonospaced"/>
              </a:rPr>
              <a:t>@@</a:t>
            </a:r>
            <a:r>
              <a:rPr lang="fr-FR" dirty="0">
                <a:solidFill>
                  <a:srgbClr val="FF0000"/>
                </a:solidFill>
                <a:effectLst/>
                <a:latin typeface=".AppleSystemUIFont"/>
              </a:rPr>
              <a:t> au lieu de </a:t>
            </a:r>
            <a:r>
              <a:rPr lang="fr-FR" dirty="0">
                <a:solidFill>
                  <a:srgbClr val="FF0000"/>
                </a:solidFill>
                <a:effectLst/>
                <a:latin typeface=".AppleSystemUIFontMonospaced"/>
              </a:rPr>
              <a:t>@</a:t>
            </a:r>
            <a:r>
              <a:rPr lang="fr-FR" dirty="0">
                <a:solidFill>
                  <a:srgbClr val="FF0000"/>
                </a:solidFill>
                <a:effectLst/>
                <a:latin typeface=".AppleSystemUIFont"/>
              </a:rPr>
              <a:t> :</a:t>
            </a:r>
          </a:p>
          <a:p>
            <a:pPr marL="717550"/>
            <a:endParaRPr lang="fr-FR" dirty="0">
              <a:solidFill>
                <a:srgbClr val="FF0000"/>
              </a:solidFill>
              <a:latin typeface=".AppleSystemUIFontMonospaced"/>
            </a:endParaRPr>
          </a:p>
          <a:p>
            <a:pPr marL="717550" algn="ctr"/>
            <a:r>
              <a:rPr lang="fr-FR" dirty="0">
                <a:solidFill>
                  <a:srgbClr val="FF0000"/>
                </a:solidFill>
                <a:effectLst/>
                <a:latin typeface=".AppleSystemUIFontMonospaced"/>
              </a:rPr>
              <a:t>*.* @@192.168.1.100:514</a:t>
            </a:r>
          </a:p>
        </p:txBody>
      </p:sp>
    </p:spTree>
    <p:extLst>
      <p:ext uri="{BB962C8B-B14F-4D97-AF65-F5344CB8AC3E}">
        <p14:creationId xmlns:p14="http://schemas.microsoft.com/office/powerpoint/2010/main" val="356045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8ADF-0F46-6386-98D2-F3E576F0FE4A}"/>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1B950053-0C37-04CD-F427-09F209A3DCCF}"/>
              </a:ext>
            </a:extLst>
          </p:cNvPr>
          <p:cNvSpPr txBox="1"/>
          <p:nvPr/>
        </p:nvSpPr>
        <p:spPr>
          <a:xfrm>
            <a:off x="162046" y="300941"/>
            <a:ext cx="11655706" cy="1754326"/>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5 - </a:t>
            </a:r>
            <a:r>
              <a:rPr lang="fr-FR" b="1" dirty="0">
                <a:solidFill>
                  <a:srgbClr val="0E0E0E"/>
                </a:solidFill>
                <a:effectLst/>
                <a:latin typeface=".AppleSystemUIFont"/>
              </a:rPr>
              <a:t>Filtrer les messages de niveau “warning” et les transmettre à un script Bash pour traitement</a:t>
            </a:r>
            <a:endParaRPr lang="fr-FR" dirty="0">
              <a:solidFill>
                <a:srgbClr val="0E0E0E"/>
              </a:solidFill>
              <a:effectLst/>
              <a:latin typeface=".AppleSystemUIFont"/>
            </a:endParaRPr>
          </a:p>
          <a:p>
            <a:endParaRPr lang="fr-FR" dirty="0">
              <a:solidFill>
                <a:srgbClr val="000000"/>
              </a:solidFill>
              <a:effectLst/>
              <a:latin typeface=".AppleSystemUIFontMonospaced"/>
            </a:endParaRPr>
          </a:p>
          <a:p>
            <a:r>
              <a:rPr lang="fr-FR" dirty="0">
                <a:solidFill>
                  <a:srgbClr val="0E0E0E"/>
                </a:solidFill>
                <a:effectLst/>
                <a:latin typeface=".AppleSystemUIFont"/>
              </a:rPr>
              <a:t>Configurer </a:t>
            </a:r>
            <a:r>
              <a:rPr lang="fr-FR" b="1" dirty="0" err="1">
                <a:solidFill>
                  <a:srgbClr val="0E0E0E"/>
                </a:solidFill>
                <a:effectLst/>
                <a:latin typeface=".AppleSystemUIFont"/>
              </a:rPr>
              <a:t>rsyslog</a:t>
            </a:r>
            <a:r>
              <a:rPr lang="fr-FR" dirty="0">
                <a:solidFill>
                  <a:srgbClr val="0E0E0E"/>
                </a:solidFill>
                <a:effectLst/>
                <a:latin typeface=".AppleSystemUIFont"/>
              </a:rPr>
              <a:t> pour détecter tous les messages de niveau </a:t>
            </a:r>
            <a:r>
              <a:rPr lang="fr-FR" b="1" dirty="0">
                <a:solidFill>
                  <a:srgbClr val="0E0E0E"/>
                </a:solidFill>
                <a:effectLst/>
                <a:latin typeface=".AppleSystemUIFont"/>
              </a:rPr>
              <a:t>warning</a:t>
            </a:r>
            <a:r>
              <a:rPr lang="fr-FR" dirty="0">
                <a:solidFill>
                  <a:srgbClr val="0E0E0E"/>
                </a:solidFill>
                <a:effectLst/>
                <a:latin typeface=".AppleSystemUIFont"/>
              </a:rPr>
              <a:t> (ou supérieur) provenant de la facilité </a:t>
            </a:r>
            <a:r>
              <a:rPr lang="fr-FR" dirty="0" err="1">
                <a:solidFill>
                  <a:srgbClr val="0E0E0E"/>
                </a:solidFill>
                <a:effectLst/>
                <a:latin typeface=".AppleSystemUIFontMonospaced"/>
              </a:rPr>
              <a:t>auth</a:t>
            </a:r>
            <a:r>
              <a:rPr lang="fr-FR" dirty="0">
                <a:solidFill>
                  <a:srgbClr val="0E0E0E"/>
                </a:solidFill>
                <a:effectLst/>
                <a:latin typeface=".AppleSystemUIFont"/>
              </a:rPr>
              <a:t> et les envoyer à un script Bash. Ce script doit enregistrer les messages dans un fichier </a:t>
            </a:r>
            <a:r>
              <a:rPr lang="fr-FR" dirty="0">
                <a:solidFill>
                  <a:srgbClr val="0E0E0E"/>
                </a:solidFill>
                <a:effectLst/>
                <a:latin typeface=".AppleSystemUIFontMonospaced"/>
              </a:rPr>
              <a:t>/var/log/</a:t>
            </a:r>
            <a:r>
              <a:rPr lang="fr-FR" dirty="0" err="1">
                <a:solidFill>
                  <a:srgbClr val="0E0E0E"/>
                </a:solidFill>
                <a:effectLst/>
                <a:latin typeface=".AppleSystemUIFontMonospaced"/>
              </a:rPr>
              <a:t>auth_warning.log</a:t>
            </a:r>
            <a:r>
              <a:rPr lang="fr-FR" dirty="0">
                <a:solidFill>
                  <a:srgbClr val="0E0E0E"/>
                </a:solidFill>
                <a:effectLst/>
                <a:latin typeface=".AppleSystemUIFont"/>
              </a:rPr>
              <a:t> avec un horodatage du type : </a:t>
            </a:r>
            <a:r>
              <a:rPr lang="fr-FR" b="1" i="1" dirty="0">
                <a:solidFill>
                  <a:srgbClr val="0E0E0E"/>
                </a:solidFill>
                <a:effectLst/>
                <a:latin typeface=".AppleSystemUIFont"/>
              </a:rPr>
              <a:t>2024-12-30 14:35:42 </a:t>
            </a:r>
            <a:r>
              <a:rPr lang="fr-FR" b="1" i="1" dirty="0" err="1">
                <a:solidFill>
                  <a:srgbClr val="0E0E0E"/>
                </a:solidFill>
                <a:effectLst/>
                <a:latin typeface=".AppleSystemUIFont"/>
              </a:rPr>
              <a:t>Authentication</a:t>
            </a:r>
            <a:r>
              <a:rPr lang="fr-FR" b="1" i="1" dirty="0">
                <a:solidFill>
                  <a:srgbClr val="0E0E0E"/>
                </a:solidFill>
                <a:effectLst/>
                <a:latin typeface=".AppleSystemUIFont"/>
              </a:rPr>
              <a:t> </a:t>
            </a:r>
            <a:r>
              <a:rPr lang="fr-FR" b="1" i="1" dirty="0" err="1">
                <a:solidFill>
                  <a:srgbClr val="0E0E0E"/>
                </a:solidFill>
                <a:effectLst/>
                <a:latin typeface=".AppleSystemUIFont"/>
              </a:rPr>
              <a:t>failure</a:t>
            </a:r>
            <a:r>
              <a:rPr lang="fr-FR" b="1" i="1" dirty="0">
                <a:solidFill>
                  <a:srgbClr val="0E0E0E"/>
                </a:solidFill>
                <a:effectLst/>
                <a:latin typeface=".AppleSystemUIFont"/>
              </a:rPr>
              <a:t> for user 'admin’</a:t>
            </a:r>
            <a:r>
              <a:rPr lang="fr-FR" dirty="0">
                <a:solidFill>
                  <a:srgbClr val="0E0E0E"/>
                </a:solidFill>
                <a:effectLst/>
                <a:latin typeface=".AppleSystemUIFont"/>
              </a:rPr>
              <a:t>.</a:t>
            </a:r>
          </a:p>
          <a:p>
            <a:endParaRPr lang="fr-FR" dirty="0">
              <a:solidFill>
                <a:srgbClr val="000000"/>
              </a:solidFill>
              <a:effectLst/>
              <a:latin typeface=".AppleSystemUIFontMonospaced"/>
            </a:endParaRPr>
          </a:p>
        </p:txBody>
      </p:sp>
    </p:spTree>
    <p:extLst>
      <p:ext uri="{BB962C8B-B14F-4D97-AF65-F5344CB8AC3E}">
        <p14:creationId xmlns:p14="http://schemas.microsoft.com/office/powerpoint/2010/main" val="331112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BDCA5-E2B2-16F0-15E0-3291B7DEDE91}"/>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A75722CF-AA91-2DB1-AE23-2640CD638991}"/>
              </a:ext>
            </a:extLst>
          </p:cNvPr>
          <p:cNvSpPr txBox="1"/>
          <p:nvPr/>
        </p:nvSpPr>
        <p:spPr>
          <a:xfrm>
            <a:off x="162046" y="300941"/>
            <a:ext cx="11655706" cy="6740307"/>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5 - </a:t>
            </a:r>
            <a:r>
              <a:rPr lang="fr-FR" b="1" dirty="0">
                <a:solidFill>
                  <a:srgbClr val="0E0E0E"/>
                </a:solidFill>
                <a:effectLst/>
                <a:latin typeface=".AppleSystemUIFont"/>
              </a:rPr>
              <a:t>Filtrer les messages de niveau “warning” et les transmettre à un script Bash pour traitement</a:t>
            </a:r>
            <a:endParaRPr lang="fr-FR" dirty="0">
              <a:solidFill>
                <a:srgbClr val="0E0E0E"/>
              </a:solidFill>
              <a:effectLst/>
              <a:latin typeface=".AppleSystemUIFont"/>
            </a:endParaRPr>
          </a:p>
          <a:p>
            <a:endParaRPr lang="fr-FR" dirty="0">
              <a:solidFill>
                <a:srgbClr val="000000"/>
              </a:solidFill>
              <a:effectLst/>
              <a:latin typeface=".AppleSystemUIFontMonospaced"/>
            </a:endParaRPr>
          </a:p>
          <a:p>
            <a:r>
              <a:rPr lang="fr-FR" dirty="0">
                <a:solidFill>
                  <a:srgbClr val="0E0E0E"/>
                </a:solidFill>
                <a:effectLst/>
                <a:latin typeface=".AppleSystemUIFont"/>
              </a:rPr>
              <a:t>Configurer </a:t>
            </a:r>
            <a:r>
              <a:rPr lang="fr-FR" b="1" dirty="0" err="1">
                <a:solidFill>
                  <a:srgbClr val="0E0E0E"/>
                </a:solidFill>
                <a:effectLst/>
                <a:latin typeface=".AppleSystemUIFont"/>
              </a:rPr>
              <a:t>rsyslog</a:t>
            </a:r>
            <a:r>
              <a:rPr lang="fr-FR" dirty="0">
                <a:solidFill>
                  <a:srgbClr val="0E0E0E"/>
                </a:solidFill>
                <a:effectLst/>
                <a:latin typeface=".AppleSystemUIFont"/>
              </a:rPr>
              <a:t> pour détecter tous les messages de niveau </a:t>
            </a:r>
            <a:r>
              <a:rPr lang="fr-FR" b="1" dirty="0">
                <a:solidFill>
                  <a:srgbClr val="0E0E0E"/>
                </a:solidFill>
                <a:effectLst/>
                <a:latin typeface=".AppleSystemUIFont"/>
              </a:rPr>
              <a:t>warning</a:t>
            </a:r>
            <a:r>
              <a:rPr lang="fr-FR" dirty="0">
                <a:solidFill>
                  <a:srgbClr val="0E0E0E"/>
                </a:solidFill>
                <a:effectLst/>
                <a:latin typeface=".AppleSystemUIFont"/>
              </a:rPr>
              <a:t> (ou supérieur) provenant de la facilité </a:t>
            </a:r>
            <a:r>
              <a:rPr lang="fr-FR" dirty="0" err="1">
                <a:solidFill>
                  <a:srgbClr val="0E0E0E"/>
                </a:solidFill>
                <a:effectLst/>
                <a:latin typeface=".AppleSystemUIFontMonospaced"/>
              </a:rPr>
              <a:t>auth</a:t>
            </a:r>
            <a:r>
              <a:rPr lang="fr-FR" dirty="0">
                <a:solidFill>
                  <a:srgbClr val="0E0E0E"/>
                </a:solidFill>
                <a:effectLst/>
                <a:latin typeface=".AppleSystemUIFont"/>
              </a:rPr>
              <a:t> et les envoyer à un script Bash. Ce script doit enregistrer les messages dans un fichier </a:t>
            </a:r>
            <a:r>
              <a:rPr lang="fr-FR" dirty="0">
                <a:solidFill>
                  <a:srgbClr val="0E0E0E"/>
                </a:solidFill>
                <a:effectLst/>
                <a:latin typeface=".AppleSystemUIFontMonospaced"/>
              </a:rPr>
              <a:t>/var/log/</a:t>
            </a:r>
            <a:r>
              <a:rPr lang="fr-FR" dirty="0" err="1">
                <a:solidFill>
                  <a:srgbClr val="0E0E0E"/>
                </a:solidFill>
                <a:effectLst/>
                <a:latin typeface=".AppleSystemUIFontMonospaced"/>
              </a:rPr>
              <a:t>auth_warning.log</a:t>
            </a:r>
            <a:r>
              <a:rPr lang="fr-FR" dirty="0">
                <a:solidFill>
                  <a:srgbClr val="0E0E0E"/>
                </a:solidFill>
                <a:effectLst/>
                <a:latin typeface=".AppleSystemUIFont"/>
              </a:rPr>
              <a:t> avec un horodatage du type : </a:t>
            </a:r>
            <a:r>
              <a:rPr lang="fr-FR" b="1" i="1" dirty="0">
                <a:solidFill>
                  <a:srgbClr val="0E0E0E"/>
                </a:solidFill>
                <a:effectLst/>
                <a:latin typeface=".AppleSystemUIFont"/>
              </a:rPr>
              <a:t>2024-12-30 14:35:42 </a:t>
            </a:r>
            <a:r>
              <a:rPr lang="fr-FR" b="1" i="1" dirty="0" err="1">
                <a:solidFill>
                  <a:srgbClr val="0E0E0E"/>
                </a:solidFill>
                <a:effectLst/>
                <a:latin typeface=".AppleSystemUIFont"/>
              </a:rPr>
              <a:t>Authentication</a:t>
            </a:r>
            <a:r>
              <a:rPr lang="fr-FR" b="1" i="1" dirty="0">
                <a:solidFill>
                  <a:srgbClr val="0E0E0E"/>
                </a:solidFill>
                <a:effectLst/>
                <a:latin typeface=".AppleSystemUIFont"/>
              </a:rPr>
              <a:t> </a:t>
            </a:r>
            <a:r>
              <a:rPr lang="fr-FR" b="1" i="1" dirty="0" err="1">
                <a:solidFill>
                  <a:srgbClr val="0E0E0E"/>
                </a:solidFill>
                <a:effectLst/>
                <a:latin typeface=".AppleSystemUIFont"/>
              </a:rPr>
              <a:t>failure</a:t>
            </a:r>
            <a:r>
              <a:rPr lang="fr-FR" b="1" i="1" dirty="0">
                <a:solidFill>
                  <a:srgbClr val="0E0E0E"/>
                </a:solidFill>
                <a:effectLst/>
                <a:latin typeface=".AppleSystemUIFont"/>
              </a:rPr>
              <a:t> for user 'admin’</a:t>
            </a:r>
            <a:r>
              <a:rPr lang="fr-FR" dirty="0">
                <a:solidFill>
                  <a:srgbClr val="0E0E0E"/>
                </a:solidFill>
                <a:effectLst/>
                <a:latin typeface=".AppleSystemUIFont"/>
              </a:rPr>
              <a:t>.</a:t>
            </a:r>
          </a:p>
          <a:p>
            <a:endParaRPr lang="fr-FR" dirty="0">
              <a:solidFill>
                <a:srgbClr val="000000"/>
              </a:solidFill>
              <a:effectLst/>
              <a:latin typeface=".AppleSystemUIFontMonospaced"/>
            </a:endParaRPr>
          </a:p>
          <a:p>
            <a:pPr marL="717550"/>
            <a:r>
              <a:rPr lang="fr-FR" dirty="0">
                <a:solidFill>
                  <a:srgbClr val="FF0000"/>
                </a:solidFill>
                <a:effectLst/>
                <a:latin typeface=".AppleSystemUIFont"/>
              </a:rPr>
              <a:t>Créez un fichier de script nommé </a:t>
            </a:r>
            <a:r>
              <a:rPr lang="fr-FR" dirty="0">
                <a:solidFill>
                  <a:srgbClr val="FF0000"/>
                </a:solidFill>
                <a:effectLst/>
                <a:latin typeface=".AppleSystemUIFontMonospaced"/>
              </a:rPr>
              <a:t>/</a:t>
            </a:r>
            <a:r>
              <a:rPr lang="fr-FR" dirty="0" err="1">
                <a:solidFill>
                  <a:srgbClr val="FF0000"/>
                </a:solidFill>
                <a:effectLst/>
                <a:latin typeface=".AppleSystemUIFontMonospaced"/>
              </a:rPr>
              <a:t>usr</a:t>
            </a:r>
            <a:r>
              <a:rPr lang="fr-FR" dirty="0">
                <a:solidFill>
                  <a:srgbClr val="FF0000"/>
                </a:solidFill>
                <a:effectLst/>
                <a:latin typeface=".AppleSystemUIFontMonospaced"/>
              </a:rPr>
              <a:t>/local/bin/</a:t>
            </a:r>
            <a:r>
              <a:rPr lang="fr-FR" dirty="0" err="1">
                <a:solidFill>
                  <a:srgbClr val="FF0000"/>
                </a:solidFill>
                <a:effectLst/>
                <a:latin typeface=".AppleSystemUIFontMonospaced"/>
              </a:rPr>
              <a:t>process_auth_warnings.sh</a:t>
            </a:r>
            <a:r>
              <a:rPr lang="fr-FR" dirty="0">
                <a:solidFill>
                  <a:srgbClr val="FF0000"/>
                </a:solidFill>
                <a:effectLst/>
                <a:latin typeface=".AppleSystemUIFont"/>
              </a:rPr>
              <a:t> :</a:t>
            </a:r>
            <a:endParaRPr lang="fr-FR" dirty="0">
              <a:solidFill>
                <a:srgbClr val="FF0000"/>
              </a:solidFill>
              <a:effectLst/>
              <a:latin typeface=".AppleSystemUIFontMonospaced"/>
            </a:endParaRPr>
          </a:p>
          <a:p>
            <a:pPr marL="1116013"/>
            <a:r>
              <a:rPr lang="fr-FR" dirty="0">
                <a:solidFill>
                  <a:srgbClr val="FF0000"/>
                </a:solidFill>
                <a:effectLst/>
                <a:latin typeface=".AppleSystemUIFontMonospaced"/>
              </a:rPr>
              <a:t>#!/bin/</a:t>
            </a:r>
            <a:r>
              <a:rPr lang="fr-FR" dirty="0" err="1">
                <a:solidFill>
                  <a:srgbClr val="FF0000"/>
                </a:solidFill>
                <a:effectLst/>
                <a:latin typeface=".AppleSystemUIFontMonospaced"/>
              </a:rPr>
              <a:t>bash</a:t>
            </a:r>
            <a:endParaRPr lang="fr-FR" dirty="0">
              <a:solidFill>
                <a:srgbClr val="FF0000"/>
              </a:solidFill>
              <a:effectLst/>
              <a:latin typeface=".AppleSystemUIFontMonospaced"/>
            </a:endParaRPr>
          </a:p>
          <a:p>
            <a:pPr marL="1116013"/>
            <a:r>
              <a:rPr lang="fr-FR" dirty="0" err="1">
                <a:solidFill>
                  <a:srgbClr val="FF0000"/>
                </a:solidFill>
                <a:effectLst/>
                <a:latin typeface=".AppleSystemUIFontMonospaced"/>
              </a:rPr>
              <a:t>while</a:t>
            </a:r>
            <a:r>
              <a:rPr lang="fr-FR" dirty="0">
                <a:solidFill>
                  <a:srgbClr val="FF0000"/>
                </a:solidFill>
                <a:effectLst/>
                <a:latin typeface=".AppleSystemUIFontMonospaced"/>
              </a:rPr>
              <a:t> </a:t>
            </a:r>
            <a:r>
              <a:rPr lang="fr-FR" dirty="0" err="1">
                <a:solidFill>
                  <a:srgbClr val="FF0000"/>
                </a:solidFill>
                <a:effectLst/>
                <a:latin typeface=".AppleSystemUIFontMonospaced"/>
              </a:rPr>
              <a:t>read</a:t>
            </a:r>
            <a:r>
              <a:rPr lang="fr-FR" dirty="0">
                <a:solidFill>
                  <a:srgbClr val="FF0000"/>
                </a:solidFill>
                <a:effectLst/>
                <a:latin typeface=".AppleSystemUIFontMonospaced"/>
              </a:rPr>
              <a:t> -r line; do</a:t>
            </a:r>
          </a:p>
          <a:p>
            <a:pPr marL="1116013"/>
            <a:r>
              <a:rPr lang="fr-FR" dirty="0">
                <a:solidFill>
                  <a:srgbClr val="FF0000"/>
                </a:solidFill>
                <a:effectLst/>
                <a:latin typeface=".AppleSystemUIFontMonospaced"/>
              </a:rPr>
              <a:t>    </a:t>
            </a:r>
            <a:r>
              <a:rPr lang="fr-FR" dirty="0" err="1">
                <a:solidFill>
                  <a:srgbClr val="FF0000"/>
                </a:solidFill>
                <a:effectLst/>
                <a:latin typeface=".AppleSystemUIFontMonospaced"/>
              </a:rPr>
              <a:t>echo</a:t>
            </a:r>
            <a:r>
              <a:rPr lang="fr-FR" dirty="0">
                <a:solidFill>
                  <a:srgbClr val="FF0000"/>
                </a:solidFill>
                <a:effectLst/>
                <a:latin typeface=".AppleSystemUIFontMonospaced"/>
              </a:rPr>
              <a:t> "$(date '+%Y-%m-%d %H:%M:%S') $line" &gt;&gt; /var/log/</a:t>
            </a:r>
            <a:r>
              <a:rPr lang="fr-FR" dirty="0" err="1">
                <a:solidFill>
                  <a:srgbClr val="FF0000"/>
                </a:solidFill>
                <a:effectLst/>
                <a:latin typeface=".AppleSystemUIFontMonospaced"/>
              </a:rPr>
              <a:t>auth_warning.log</a:t>
            </a:r>
            <a:endParaRPr lang="fr-FR" dirty="0">
              <a:solidFill>
                <a:srgbClr val="FF0000"/>
              </a:solidFill>
              <a:effectLst/>
              <a:latin typeface=".AppleSystemUIFontMonospaced"/>
            </a:endParaRPr>
          </a:p>
          <a:p>
            <a:pPr marL="1116013"/>
            <a:r>
              <a:rPr lang="fr-FR" dirty="0" err="1">
                <a:solidFill>
                  <a:srgbClr val="FF0000"/>
                </a:solidFill>
                <a:effectLst/>
                <a:latin typeface=".AppleSystemUIFontMonospaced"/>
              </a:rPr>
              <a:t>Done</a:t>
            </a:r>
            <a:endParaRPr lang="fr-FR" dirty="0">
              <a:solidFill>
                <a:srgbClr val="FF0000"/>
              </a:solidFill>
              <a:effectLst/>
              <a:latin typeface=".AppleSystemUIFontMonospaced"/>
            </a:endParaRPr>
          </a:p>
          <a:p>
            <a:pPr marL="717550"/>
            <a:endParaRPr lang="fr-FR" dirty="0">
              <a:solidFill>
                <a:srgbClr val="FF0000"/>
              </a:solidFill>
              <a:effectLst/>
              <a:latin typeface=".AppleSystemUIFontMonospaced"/>
            </a:endParaRPr>
          </a:p>
          <a:p>
            <a:pPr marL="717550"/>
            <a:r>
              <a:rPr lang="fr-FR" dirty="0">
                <a:solidFill>
                  <a:srgbClr val="FF0000"/>
                </a:solidFill>
                <a:effectLst/>
                <a:latin typeface=".AppleSystemUIFont"/>
              </a:rPr>
              <a:t>Rendez-le exécutable :</a:t>
            </a:r>
          </a:p>
          <a:p>
            <a:pPr marL="1116013"/>
            <a:r>
              <a:rPr lang="fr-FR" dirty="0" err="1">
                <a:solidFill>
                  <a:srgbClr val="FF0000"/>
                </a:solidFill>
                <a:effectLst/>
                <a:latin typeface=".AppleSystemUIFontMonospaced"/>
              </a:rPr>
              <a:t>sudo</a:t>
            </a:r>
            <a:r>
              <a:rPr lang="fr-FR" dirty="0">
                <a:solidFill>
                  <a:srgbClr val="FF0000"/>
                </a:solidFill>
                <a:effectLst/>
                <a:latin typeface=".AppleSystemUIFontMonospaced"/>
              </a:rPr>
              <a:t> chmod +x /</a:t>
            </a:r>
            <a:r>
              <a:rPr lang="fr-FR" dirty="0" err="1">
                <a:solidFill>
                  <a:srgbClr val="FF0000"/>
                </a:solidFill>
                <a:effectLst/>
                <a:latin typeface=".AppleSystemUIFontMonospaced"/>
              </a:rPr>
              <a:t>usr</a:t>
            </a:r>
            <a:r>
              <a:rPr lang="fr-FR" dirty="0">
                <a:solidFill>
                  <a:srgbClr val="FF0000"/>
                </a:solidFill>
                <a:effectLst/>
                <a:latin typeface=".AppleSystemUIFontMonospaced"/>
              </a:rPr>
              <a:t>/local/bin/</a:t>
            </a:r>
            <a:r>
              <a:rPr lang="fr-FR" dirty="0" err="1">
                <a:solidFill>
                  <a:srgbClr val="FF0000"/>
                </a:solidFill>
                <a:effectLst/>
                <a:latin typeface=".AppleSystemUIFontMonospaced"/>
              </a:rPr>
              <a:t>auth_warnings.sh</a:t>
            </a:r>
            <a:endParaRPr lang="fr-FR" dirty="0">
              <a:solidFill>
                <a:srgbClr val="FF0000"/>
              </a:solidFill>
              <a:effectLst/>
              <a:latin typeface=".AppleSystemUIFontMonospaced"/>
            </a:endParaRPr>
          </a:p>
          <a:p>
            <a:pPr marL="717550"/>
            <a:endParaRPr lang="fr-FR" dirty="0">
              <a:solidFill>
                <a:srgbClr val="FF0000"/>
              </a:solidFill>
              <a:effectLst/>
              <a:latin typeface=".AppleSystemUIFontMonospaced"/>
            </a:endParaRPr>
          </a:p>
          <a:p>
            <a:pPr marL="717550"/>
            <a:r>
              <a:rPr lang="fr-FR" dirty="0">
                <a:solidFill>
                  <a:srgbClr val="FF0000"/>
                </a:solidFill>
                <a:effectLst/>
                <a:latin typeface=".AppleSystemUIFont"/>
              </a:rPr>
              <a:t>Modifiez le fichier </a:t>
            </a:r>
            <a:r>
              <a:rPr lang="fr-FR" dirty="0">
                <a:solidFill>
                  <a:srgbClr val="FF0000"/>
                </a:solidFill>
                <a:effectLst/>
                <a:latin typeface=".AppleSystemUIFontMonospaced"/>
              </a:rPr>
              <a:t>/</a:t>
            </a:r>
            <a:r>
              <a:rPr lang="fr-FR" dirty="0" err="1">
                <a:solidFill>
                  <a:srgbClr val="FF0000"/>
                </a:solidFill>
                <a:effectLst/>
                <a:latin typeface=".AppleSystemUIFontMonospaced"/>
              </a:rPr>
              <a:t>etc</a:t>
            </a:r>
            <a:r>
              <a:rPr lang="fr-FR" dirty="0">
                <a:solidFill>
                  <a:srgbClr val="FF0000"/>
                </a:solidFill>
                <a:effectLst/>
                <a:latin typeface=".AppleSystemUIFontMonospaced"/>
              </a:rPr>
              <a:t>/</a:t>
            </a:r>
            <a:r>
              <a:rPr lang="fr-FR" dirty="0" err="1">
                <a:solidFill>
                  <a:srgbClr val="FF0000"/>
                </a:solidFill>
                <a:effectLst/>
                <a:latin typeface=".AppleSystemUIFontMonospaced"/>
              </a:rPr>
              <a:t>rsyslog.conf</a:t>
            </a:r>
            <a:r>
              <a:rPr lang="fr-FR" dirty="0">
                <a:solidFill>
                  <a:srgbClr val="FF0000"/>
                </a:solidFill>
                <a:effectLst/>
                <a:latin typeface=".AppleSystemUIFontMonospaced"/>
              </a:rPr>
              <a:t> :</a:t>
            </a:r>
          </a:p>
          <a:p>
            <a:pPr marL="1116013"/>
            <a:r>
              <a:rPr lang="fr-FR" dirty="0" err="1">
                <a:solidFill>
                  <a:srgbClr val="FF0000"/>
                </a:solidFill>
                <a:effectLst/>
                <a:latin typeface=".AppleSystemUIFont"/>
              </a:rPr>
              <a:t>auth.warning</a:t>
            </a:r>
            <a:r>
              <a:rPr lang="fr-FR" dirty="0">
                <a:solidFill>
                  <a:srgbClr val="FF0000"/>
                </a:solidFill>
                <a:effectLst/>
                <a:latin typeface=".AppleSystemUIFont"/>
              </a:rPr>
              <a:t> |/</a:t>
            </a:r>
            <a:r>
              <a:rPr lang="fr-FR" dirty="0" err="1">
                <a:solidFill>
                  <a:srgbClr val="FF0000"/>
                </a:solidFill>
                <a:effectLst/>
                <a:latin typeface=".AppleSystemUIFont"/>
              </a:rPr>
              <a:t>usr</a:t>
            </a:r>
            <a:r>
              <a:rPr lang="fr-FR" dirty="0">
                <a:solidFill>
                  <a:srgbClr val="FF0000"/>
                </a:solidFill>
                <a:effectLst/>
                <a:latin typeface=".AppleSystemUIFont"/>
              </a:rPr>
              <a:t>/local/bin/</a:t>
            </a:r>
            <a:r>
              <a:rPr lang="fr-FR" dirty="0" err="1">
                <a:solidFill>
                  <a:srgbClr val="FF0000"/>
                </a:solidFill>
                <a:effectLst/>
                <a:latin typeface=".AppleSystemUIFont"/>
              </a:rPr>
              <a:t>auth_warnings.sh</a:t>
            </a:r>
            <a:endParaRPr lang="fr-FR" dirty="0">
              <a:solidFill>
                <a:srgbClr val="FF0000"/>
              </a:solidFill>
              <a:latin typeface=".AppleSystemUIFontMonospaced"/>
            </a:endParaRPr>
          </a:p>
          <a:p>
            <a:pPr marL="1116013"/>
            <a:r>
              <a:rPr lang="fr-FR" dirty="0">
                <a:solidFill>
                  <a:srgbClr val="FF0000"/>
                </a:solidFill>
                <a:effectLst/>
                <a:latin typeface=".AppleSystemUIFontMonospaced"/>
              </a:rPr>
              <a:t>Ou</a:t>
            </a:r>
          </a:p>
          <a:p>
            <a:pPr marL="1116013"/>
            <a:r>
              <a:rPr lang="fr-FR" dirty="0">
                <a:solidFill>
                  <a:srgbClr val="FF0000"/>
                </a:solidFill>
                <a:effectLst/>
                <a:latin typeface=".AppleSystemUIFont"/>
              </a:rPr>
              <a:t>if ($</a:t>
            </a:r>
            <a:r>
              <a:rPr lang="fr-FR" dirty="0" err="1">
                <a:solidFill>
                  <a:srgbClr val="FF0000"/>
                </a:solidFill>
                <a:effectLst/>
                <a:latin typeface=".AppleSystemUIFont"/>
              </a:rPr>
              <a:t>syslogfacility-text</a:t>
            </a:r>
            <a:r>
              <a:rPr lang="fr-FR" dirty="0">
                <a:solidFill>
                  <a:srgbClr val="FF0000"/>
                </a:solidFill>
                <a:effectLst/>
                <a:latin typeface=".AppleSystemUIFont"/>
              </a:rPr>
              <a:t> == '</a:t>
            </a:r>
            <a:r>
              <a:rPr lang="fr-FR" dirty="0" err="1">
                <a:solidFill>
                  <a:srgbClr val="FF0000"/>
                </a:solidFill>
                <a:effectLst/>
                <a:latin typeface=".AppleSystemUIFont"/>
              </a:rPr>
              <a:t>auth</a:t>
            </a:r>
            <a:r>
              <a:rPr lang="fr-FR" dirty="0">
                <a:solidFill>
                  <a:srgbClr val="FF0000"/>
                </a:solidFill>
                <a:effectLst/>
                <a:latin typeface=".AppleSystemUIFont"/>
              </a:rPr>
              <a:t>' and $msg </a:t>
            </a:r>
            <a:r>
              <a:rPr lang="fr-FR" dirty="0" err="1">
                <a:solidFill>
                  <a:srgbClr val="FF0000"/>
                </a:solidFill>
                <a:effectLst/>
                <a:latin typeface=".AppleSystemUIFont"/>
              </a:rPr>
              <a:t>contains</a:t>
            </a:r>
            <a:r>
              <a:rPr lang="fr-FR" dirty="0">
                <a:solidFill>
                  <a:srgbClr val="FF0000"/>
                </a:solidFill>
                <a:effectLst/>
                <a:latin typeface=".AppleSystemUIFont"/>
              </a:rPr>
              <a:t> 'warning') </a:t>
            </a:r>
            <a:r>
              <a:rPr lang="fr-FR" dirty="0" err="1">
                <a:solidFill>
                  <a:srgbClr val="FF0000"/>
                </a:solidFill>
                <a:effectLst/>
                <a:latin typeface=".AppleSystemUIFont"/>
              </a:rPr>
              <a:t>then</a:t>
            </a:r>
            <a:r>
              <a:rPr lang="fr-FR" dirty="0">
                <a:solidFill>
                  <a:srgbClr val="FF0000"/>
                </a:solidFill>
                <a:effectLst/>
                <a:latin typeface=".AppleSystemUIFont"/>
              </a:rPr>
              <a:t> |/</a:t>
            </a:r>
            <a:r>
              <a:rPr lang="fr-FR" dirty="0" err="1">
                <a:solidFill>
                  <a:srgbClr val="FF0000"/>
                </a:solidFill>
                <a:effectLst/>
                <a:latin typeface=".AppleSystemUIFont"/>
              </a:rPr>
              <a:t>usr</a:t>
            </a:r>
            <a:r>
              <a:rPr lang="fr-FR" dirty="0">
                <a:solidFill>
                  <a:srgbClr val="FF0000"/>
                </a:solidFill>
                <a:effectLst/>
                <a:latin typeface=".AppleSystemUIFont"/>
              </a:rPr>
              <a:t>/local/bin/</a:t>
            </a:r>
            <a:r>
              <a:rPr lang="fr-FR" dirty="0" err="1">
                <a:solidFill>
                  <a:srgbClr val="FF0000"/>
                </a:solidFill>
                <a:effectLst/>
                <a:latin typeface=".AppleSystemUIFont"/>
              </a:rPr>
              <a:t>auth_warnings.sh</a:t>
            </a:r>
            <a:endParaRPr lang="fr-FR" dirty="0">
              <a:solidFill>
                <a:srgbClr val="FF0000"/>
              </a:solidFill>
              <a:effectLst/>
              <a:latin typeface=".AppleSystemUIFont"/>
            </a:endParaRPr>
          </a:p>
          <a:p>
            <a:pPr marL="1116013"/>
            <a:r>
              <a:rPr lang="fr-FR" dirty="0">
                <a:solidFill>
                  <a:srgbClr val="FF0000"/>
                </a:solidFill>
                <a:latin typeface=".AppleSystemUIFont"/>
              </a:rPr>
              <a:t>Ou</a:t>
            </a:r>
          </a:p>
          <a:p>
            <a:pPr marL="1116013"/>
            <a:r>
              <a:rPr lang="fr-FR" dirty="0">
                <a:solidFill>
                  <a:srgbClr val="FF0000"/>
                </a:solidFill>
                <a:effectLst/>
                <a:latin typeface=".AppleSystemUIFont"/>
              </a:rPr>
              <a:t>if ($</a:t>
            </a:r>
            <a:r>
              <a:rPr lang="fr-FR" dirty="0" err="1">
                <a:solidFill>
                  <a:srgbClr val="FF0000"/>
                </a:solidFill>
                <a:effectLst/>
                <a:latin typeface=".AppleSystemUIFont"/>
              </a:rPr>
              <a:t>syslogfacility-text</a:t>
            </a:r>
            <a:r>
              <a:rPr lang="fr-FR" dirty="0">
                <a:solidFill>
                  <a:srgbClr val="FF0000"/>
                </a:solidFill>
                <a:effectLst/>
                <a:latin typeface=".AppleSystemUIFont"/>
              </a:rPr>
              <a:t> == '</a:t>
            </a:r>
            <a:r>
              <a:rPr lang="fr-FR" dirty="0" err="1">
                <a:solidFill>
                  <a:srgbClr val="FF0000"/>
                </a:solidFill>
                <a:effectLst/>
                <a:latin typeface=".AppleSystemUIFont"/>
              </a:rPr>
              <a:t>auth</a:t>
            </a:r>
            <a:r>
              <a:rPr lang="fr-FR" dirty="0">
                <a:solidFill>
                  <a:srgbClr val="FF0000"/>
                </a:solidFill>
                <a:effectLst/>
                <a:latin typeface=".AppleSystemUIFont"/>
              </a:rPr>
              <a:t>' and $</a:t>
            </a:r>
            <a:r>
              <a:rPr lang="fr-FR" dirty="0" err="1">
                <a:solidFill>
                  <a:srgbClr val="FF0000"/>
                </a:solidFill>
                <a:effectLst/>
                <a:latin typeface=".AppleSystemUIFont"/>
              </a:rPr>
              <a:t>syslogseverity</a:t>
            </a:r>
            <a:r>
              <a:rPr lang="fr-FR" dirty="0">
                <a:solidFill>
                  <a:srgbClr val="FF0000"/>
                </a:solidFill>
                <a:effectLst/>
                <a:latin typeface=".AppleSystemUIFont"/>
              </a:rPr>
              <a:t> &lt;= 4) </a:t>
            </a:r>
            <a:r>
              <a:rPr lang="fr-FR" dirty="0" err="1">
                <a:solidFill>
                  <a:srgbClr val="FF0000"/>
                </a:solidFill>
                <a:effectLst/>
                <a:latin typeface=".AppleSystemUIFont"/>
              </a:rPr>
              <a:t>then</a:t>
            </a:r>
            <a:r>
              <a:rPr lang="fr-FR" dirty="0">
                <a:solidFill>
                  <a:srgbClr val="FF0000"/>
                </a:solidFill>
                <a:effectLst/>
                <a:latin typeface=".AppleSystemUIFont"/>
              </a:rPr>
              <a:t> {</a:t>
            </a:r>
          </a:p>
          <a:p>
            <a:pPr marL="1116013"/>
            <a:r>
              <a:rPr lang="fr-FR" dirty="0">
                <a:solidFill>
                  <a:srgbClr val="FF0000"/>
                </a:solidFill>
                <a:effectLst/>
                <a:latin typeface=".AppleSystemUIFont"/>
              </a:rPr>
              <a:t>    action(type="</a:t>
            </a:r>
            <a:r>
              <a:rPr lang="fr-FR" dirty="0" err="1">
                <a:solidFill>
                  <a:srgbClr val="FF0000"/>
                </a:solidFill>
                <a:effectLst/>
                <a:latin typeface=".AppleSystemUIFont"/>
              </a:rPr>
              <a:t>omprog</a:t>
            </a:r>
            <a:r>
              <a:rPr lang="fr-FR" dirty="0">
                <a:solidFill>
                  <a:srgbClr val="FF0000"/>
                </a:solidFill>
                <a:effectLst/>
                <a:latin typeface=".AppleSystemUIFont"/>
              </a:rPr>
              <a:t>" </a:t>
            </a:r>
            <a:r>
              <a:rPr lang="fr-FR" dirty="0" err="1">
                <a:solidFill>
                  <a:srgbClr val="FF0000"/>
                </a:solidFill>
                <a:effectLst/>
                <a:latin typeface=".AppleSystemUIFont"/>
              </a:rPr>
              <a:t>binary</a:t>
            </a:r>
            <a:r>
              <a:rPr lang="fr-FR" dirty="0">
                <a:solidFill>
                  <a:srgbClr val="FF0000"/>
                </a:solidFill>
                <a:effectLst/>
                <a:latin typeface=".AppleSystemUIFont"/>
              </a:rPr>
              <a:t>="/</a:t>
            </a:r>
            <a:r>
              <a:rPr lang="fr-FR" dirty="0" err="1">
                <a:solidFill>
                  <a:srgbClr val="FF0000"/>
                </a:solidFill>
                <a:effectLst/>
                <a:latin typeface=".AppleSystemUIFont"/>
              </a:rPr>
              <a:t>usr</a:t>
            </a:r>
            <a:r>
              <a:rPr lang="fr-FR" dirty="0">
                <a:solidFill>
                  <a:srgbClr val="FF0000"/>
                </a:solidFill>
                <a:effectLst/>
                <a:latin typeface=".AppleSystemUIFont"/>
              </a:rPr>
              <a:t>/local/bin/</a:t>
            </a:r>
            <a:r>
              <a:rPr lang="fr-FR" dirty="0" err="1">
                <a:solidFill>
                  <a:srgbClr val="FF0000"/>
                </a:solidFill>
                <a:effectLst/>
                <a:latin typeface=".AppleSystemUIFont"/>
              </a:rPr>
              <a:t>auth_warnings.sh</a:t>
            </a:r>
            <a:r>
              <a:rPr lang="fr-FR" dirty="0">
                <a:solidFill>
                  <a:srgbClr val="FF0000"/>
                </a:solidFill>
                <a:effectLst/>
                <a:latin typeface=".AppleSystemUIFont"/>
              </a:rPr>
              <a:t>")</a:t>
            </a:r>
          </a:p>
          <a:p>
            <a:pPr marL="1116013"/>
            <a:r>
              <a:rPr lang="fr-FR" dirty="0">
                <a:solidFill>
                  <a:srgbClr val="FF0000"/>
                </a:solidFill>
                <a:effectLst/>
                <a:latin typeface=".AppleSystemUIFont"/>
              </a:rPr>
              <a:t>    stop }</a:t>
            </a:r>
          </a:p>
          <a:p>
            <a:pPr marL="717550"/>
            <a:endParaRPr lang="fr-FR" dirty="0">
              <a:solidFill>
                <a:srgbClr val="000000"/>
              </a:solidFill>
              <a:effectLst/>
              <a:latin typeface=".AppleSystemUIFontMonospaced"/>
            </a:endParaRPr>
          </a:p>
        </p:txBody>
      </p:sp>
    </p:spTree>
    <p:extLst>
      <p:ext uri="{BB962C8B-B14F-4D97-AF65-F5344CB8AC3E}">
        <p14:creationId xmlns:p14="http://schemas.microsoft.com/office/powerpoint/2010/main" val="50285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8C34-465D-3D89-5965-D405637E18C6}"/>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823B7A36-34C7-689E-3225-B97C014E71AD}"/>
              </a:ext>
            </a:extLst>
          </p:cNvPr>
          <p:cNvSpPr txBox="1"/>
          <p:nvPr/>
        </p:nvSpPr>
        <p:spPr>
          <a:xfrm>
            <a:off x="162046" y="300941"/>
            <a:ext cx="11655706" cy="2662267"/>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a:t>
            </a:r>
            <a:r>
              <a:rPr lang="fr-FR" b="1" dirty="0">
                <a:latin typeface="Calibri" panose="020F0502020204030204" pitchFamily="34" charset="0"/>
                <a:ea typeface="Calibri" panose="020F0502020204030204" pitchFamily="34" charset="0"/>
                <a:cs typeface="Times New Roman" panose="02020603050405020304" pitchFamily="18" charset="0"/>
              </a:rPr>
              <a:t>6</a:t>
            </a:r>
            <a:r>
              <a:rPr lang="fr-FR" b="1" dirty="0">
                <a:effectLst/>
                <a:latin typeface="Calibri" panose="020F0502020204030204" pitchFamily="34" charset="0"/>
                <a:ea typeface="Calibri" panose="020F0502020204030204" pitchFamily="34" charset="0"/>
                <a:cs typeface="Times New Roman" panose="02020603050405020304" pitchFamily="18" charset="0"/>
              </a:rPr>
              <a:t> – Surveiller les journaux pour un utilisateur</a:t>
            </a:r>
          </a:p>
          <a:p>
            <a:endParaRPr lang="fr-FR" b="1" dirty="0">
              <a:effectLst/>
              <a:latin typeface="Calibri" panose="020F0502020204030204" pitchFamily="34" charset="0"/>
              <a:ea typeface="Calibri" panose="020F0502020204030204" pitchFamily="34" charset="0"/>
              <a:cs typeface="Times New Roman" panose="02020603050405020304" pitchFamily="18" charset="0"/>
            </a:endParaRPr>
          </a:p>
          <a:p>
            <a:r>
              <a:rPr lang="fr-FR" dirty="0">
                <a:solidFill>
                  <a:srgbClr val="0E0E0E"/>
                </a:solidFill>
                <a:effectLst/>
                <a:latin typeface=".AppleSystemUIFont"/>
              </a:rPr>
              <a:t>Créer un script qui surveille des journaux pour un utilisateur spécifique</a:t>
            </a:r>
          </a:p>
          <a:p>
            <a:pPr marL="358775"/>
            <a:r>
              <a:rPr lang="fr-FR" dirty="0">
                <a:solidFill>
                  <a:srgbClr val="0E0E0E"/>
                </a:solidFill>
                <a:effectLst/>
                <a:latin typeface=".AppleSystemUIFont"/>
              </a:rPr>
              <a:t>1. Vérifie si un utilisateur donné existe sur le système.</a:t>
            </a:r>
          </a:p>
          <a:p>
            <a:pPr marL="358775"/>
            <a:r>
              <a:rPr lang="fr-FR" dirty="0">
                <a:solidFill>
                  <a:srgbClr val="0E0E0E"/>
                </a:solidFill>
                <a:effectLst/>
                <a:latin typeface=".AppleSystemUIFont"/>
              </a:rPr>
              <a:t>2. Recherche dans les journaux (</a:t>
            </a:r>
            <a:r>
              <a:rPr lang="fr-FR" dirty="0">
                <a:solidFill>
                  <a:srgbClr val="0E0E0E"/>
                </a:solidFill>
                <a:effectLst/>
                <a:latin typeface=".AppleSystemUIFontMonospaced"/>
              </a:rPr>
              <a:t>/var/log/</a:t>
            </a:r>
            <a:r>
              <a:rPr lang="fr-FR" dirty="0" err="1">
                <a:solidFill>
                  <a:srgbClr val="0E0E0E"/>
                </a:solidFill>
                <a:effectLst/>
                <a:latin typeface=".AppleSystemUIFontMonospaced"/>
              </a:rPr>
              <a:t>syslog</a:t>
            </a:r>
            <a:r>
              <a:rPr lang="fr-FR" dirty="0">
                <a:solidFill>
                  <a:srgbClr val="0E0E0E"/>
                </a:solidFill>
                <a:effectLst/>
                <a:latin typeface=".AppleSystemUIFont"/>
              </a:rPr>
              <a:t>) des événements contenant le nom de l’utilisateur.</a:t>
            </a:r>
          </a:p>
          <a:p>
            <a:pPr marL="358775"/>
            <a:r>
              <a:rPr lang="fr-FR" dirty="0">
                <a:solidFill>
                  <a:srgbClr val="0E0E0E"/>
                </a:solidFill>
                <a:effectLst/>
                <a:latin typeface=".AppleSystemUIFont"/>
              </a:rPr>
              <a:t>3. Enregistre les résultats dans un fichier texte situé dans le répertoire personnel de l’utilisateur.</a:t>
            </a:r>
          </a:p>
          <a:p>
            <a:pPr marL="358775">
              <a:spcAft>
                <a:spcPts val="600"/>
              </a:spcAft>
            </a:pPr>
            <a:r>
              <a:rPr lang="fr-FR" dirty="0">
                <a:solidFill>
                  <a:srgbClr val="0E0E0E"/>
                </a:solidFill>
                <a:effectLst/>
                <a:latin typeface=".AppleSystemUIFont"/>
              </a:rPr>
              <a:t>4. Planifie l’exécution du script quotidiennement avec </a:t>
            </a:r>
            <a:r>
              <a:rPr lang="fr-FR" dirty="0" err="1">
                <a:solidFill>
                  <a:srgbClr val="0E0E0E"/>
                </a:solidFill>
                <a:effectLst/>
                <a:latin typeface=".AppleSystemUIFontMonospaced"/>
              </a:rPr>
              <a:t>cron</a:t>
            </a:r>
            <a:r>
              <a:rPr lang="fr-FR" dirty="0">
                <a:solidFill>
                  <a:srgbClr val="0E0E0E"/>
                </a:solidFill>
                <a:effectLst/>
                <a:latin typeface=".AppleSystemUIFont"/>
              </a:rPr>
              <a:t>.</a:t>
            </a:r>
          </a:p>
          <a:p>
            <a:endParaRPr lang="fr-FR" dirty="0"/>
          </a:p>
          <a:p>
            <a:endParaRPr lang="fr-FR" dirty="0"/>
          </a:p>
        </p:txBody>
      </p:sp>
    </p:spTree>
    <p:extLst>
      <p:ext uri="{BB962C8B-B14F-4D97-AF65-F5344CB8AC3E}">
        <p14:creationId xmlns:p14="http://schemas.microsoft.com/office/powerpoint/2010/main" val="298897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E8E01-133F-17C3-547A-0A4D63D8FAFB}"/>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B61A7E2A-A402-2D2C-10D8-A4E1C315D619}"/>
              </a:ext>
            </a:extLst>
          </p:cNvPr>
          <p:cNvSpPr txBox="1"/>
          <p:nvPr/>
        </p:nvSpPr>
        <p:spPr>
          <a:xfrm>
            <a:off x="162046" y="300941"/>
            <a:ext cx="11655706" cy="6586418"/>
          </a:xfrm>
          <a:prstGeom prst="rect">
            <a:avLst/>
          </a:prstGeom>
          <a:noFill/>
        </p:spPr>
        <p:txBody>
          <a:bodyPr wrap="square" rtlCol="0">
            <a:spAutoFit/>
          </a:bodyPr>
          <a:lstStyle/>
          <a:p>
            <a:r>
              <a:rPr lang="fr-FR" b="1" dirty="0">
                <a:effectLst/>
                <a:latin typeface="Calibri" panose="020F0502020204030204" pitchFamily="34" charset="0"/>
                <a:ea typeface="Calibri" panose="020F0502020204030204" pitchFamily="34" charset="0"/>
                <a:cs typeface="Times New Roman" panose="02020603050405020304" pitchFamily="18" charset="0"/>
              </a:rPr>
              <a:t>Exercice 6 – Surveiller les journaux pour un utilisateur</a:t>
            </a:r>
          </a:p>
          <a:p>
            <a:pPr marL="44450"/>
            <a:endParaRPr lang="fr-FR" sz="1400" dirty="0"/>
          </a:p>
          <a:p>
            <a:pPr marL="44450"/>
            <a:r>
              <a:rPr lang="fr-FR" sz="1400" b="1" dirty="0">
                <a:solidFill>
                  <a:srgbClr val="FF0000"/>
                </a:solidFill>
              </a:rPr>
              <a:t>SCRIPT DE SURVEILLANCE</a:t>
            </a:r>
          </a:p>
          <a:p>
            <a:pPr marL="44450"/>
            <a:endParaRPr lang="fr-FR" sz="600" dirty="0"/>
          </a:p>
          <a:p>
            <a:pPr marL="44450"/>
            <a:r>
              <a:rPr lang="fr-FR" sz="1400" dirty="0"/>
              <a:t>#!/bin/</a:t>
            </a:r>
            <a:r>
              <a:rPr lang="fr-FR" sz="1400" dirty="0" err="1"/>
              <a:t>bash</a:t>
            </a:r>
            <a:endParaRPr lang="fr-FR" sz="1400" dirty="0"/>
          </a:p>
          <a:p>
            <a:pPr marL="44450"/>
            <a:r>
              <a:rPr lang="fr-FR" sz="1400" dirty="0"/>
              <a:t># Demander le nom de l'utilisateur</a:t>
            </a:r>
          </a:p>
          <a:p>
            <a:pPr marL="44450"/>
            <a:r>
              <a:rPr lang="fr-FR" sz="1400" dirty="0" err="1"/>
              <a:t>echo</a:t>
            </a:r>
            <a:r>
              <a:rPr lang="fr-FR" sz="1400" dirty="0"/>
              <a:t> "Entrez le nom de l'utilisateur à surveiller :"</a:t>
            </a:r>
          </a:p>
          <a:p>
            <a:pPr marL="44450"/>
            <a:r>
              <a:rPr lang="fr-FR" sz="1400" dirty="0" err="1"/>
              <a:t>read</a:t>
            </a:r>
            <a:r>
              <a:rPr lang="fr-FR" sz="1400" dirty="0"/>
              <a:t> -r USERNAME</a:t>
            </a:r>
          </a:p>
          <a:p>
            <a:pPr marL="44450"/>
            <a:endParaRPr lang="fr-FR" sz="600" dirty="0"/>
          </a:p>
          <a:p>
            <a:pPr marL="44450"/>
            <a:r>
              <a:rPr lang="fr-FR" sz="1400" dirty="0"/>
              <a:t># Vérifier si l'utilisateur existe</a:t>
            </a:r>
          </a:p>
          <a:p>
            <a:pPr marL="44450"/>
            <a:r>
              <a:rPr lang="fr-FR" sz="1400" dirty="0"/>
              <a:t>if ! id "$USERNAME" &amp;&gt;/dev/</a:t>
            </a:r>
            <a:r>
              <a:rPr lang="fr-FR" sz="1400" dirty="0" err="1"/>
              <a:t>null</a:t>
            </a:r>
            <a:r>
              <a:rPr lang="fr-FR" sz="1400" dirty="0"/>
              <a:t>; </a:t>
            </a:r>
            <a:r>
              <a:rPr lang="fr-FR" sz="1400" dirty="0" err="1"/>
              <a:t>then</a:t>
            </a:r>
            <a:endParaRPr lang="fr-FR" sz="1400" dirty="0"/>
          </a:p>
          <a:p>
            <a:pPr marL="44450"/>
            <a:r>
              <a:rPr lang="fr-FR" sz="1400" dirty="0"/>
              <a:t>    </a:t>
            </a:r>
            <a:r>
              <a:rPr lang="fr-FR" sz="1400" dirty="0" err="1"/>
              <a:t>echo</a:t>
            </a:r>
            <a:r>
              <a:rPr lang="fr-FR" sz="1400" dirty="0"/>
              <a:t> "L'utilisateur $USERNAME n'existe pas."</a:t>
            </a:r>
          </a:p>
          <a:p>
            <a:pPr marL="44450"/>
            <a:r>
              <a:rPr lang="fr-FR" sz="1400" dirty="0"/>
              <a:t>    exit 1</a:t>
            </a:r>
          </a:p>
          <a:p>
            <a:pPr marL="44450"/>
            <a:r>
              <a:rPr lang="fr-FR" sz="1400" dirty="0"/>
              <a:t>Fi</a:t>
            </a:r>
          </a:p>
          <a:p>
            <a:pPr marL="44450"/>
            <a:endParaRPr lang="fr-FR" sz="600" dirty="0"/>
          </a:p>
          <a:p>
            <a:pPr marL="44450"/>
            <a:r>
              <a:rPr lang="fr-FR" sz="1400" dirty="0"/>
              <a:t># Répertoire de l'utilisateur</a:t>
            </a:r>
          </a:p>
          <a:p>
            <a:pPr marL="44450"/>
            <a:r>
              <a:rPr lang="fr-FR" sz="1400" dirty="0"/>
              <a:t>USER_HOME=$(</a:t>
            </a:r>
            <a:r>
              <a:rPr lang="fr-FR" sz="1400" dirty="0" err="1"/>
              <a:t>getent</a:t>
            </a:r>
            <a:r>
              <a:rPr lang="fr-FR" sz="1400" dirty="0"/>
              <a:t> </a:t>
            </a:r>
            <a:r>
              <a:rPr lang="fr-FR" sz="1400" dirty="0" err="1"/>
              <a:t>passwd</a:t>
            </a:r>
            <a:r>
              <a:rPr lang="fr-FR" sz="1400" dirty="0"/>
              <a:t> "$USERNAME" | </a:t>
            </a:r>
            <a:r>
              <a:rPr lang="fr-FR" sz="1400" dirty="0" err="1"/>
              <a:t>cut</a:t>
            </a:r>
            <a:r>
              <a:rPr lang="fr-FR" sz="1400" dirty="0"/>
              <a:t> -d: -f6)</a:t>
            </a:r>
          </a:p>
          <a:p>
            <a:pPr marL="44450"/>
            <a:r>
              <a:rPr lang="fr-FR" sz="1400" i="1" dirty="0">
                <a:solidFill>
                  <a:srgbClr val="0E0E0E"/>
                </a:solidFill>
              </a:rPr>
              <a:t># </a:t>
            </a:r>
            <a:r>
              <a:rPr lang="fr-FR" sz="1400" i="1" dirty="0" err="1">
                <a:solidFill>
                  <a:srgbClr val="0E0E0E"/>
                </a:solidFill>
              </a:rPr>
              <a:t>getent</a:t>
            </a:r>
            <a:r>
              <a:rPr lang="fr-FR" sz="1400" i="1" dirty="0">
                <a:solidFill>
                  <a:srgbClr val="0E0E0E"/>
                </a:solidFill>
              </a:rPr>
              <a:t> </a:t>
            </a:r>
            <a:r>
              <a:rPr lang="fr-FR" sz="1400" i="1" dirty="0" err="1">
                <a:solidFill>
                  <a:srgbClr val="0E0E0E"/>
                </a:solidFill>
              </a:rPr>
              <a:t>passwd</a:t>
            </a:r>
            <a:r>
              <a:rPr lang="fr-FR" sz="1400" i="1" dirty="0">
                <a:solidFill>
                  <a:srgbClr val="0E0E0E"/>
                </a:solidFill>
              </a:rPr>
              <a:t> "$USERNAME" recherche l’entrée correspondant à l’utilisateur $USERNAME</a:t>
            </a:r>
          </a:p>
          <a:p>
            <a:pPr marL="44450"/>
            <a:r>
              <a:rPr lang="fr-FR" sz="1400" i="1" dirty="0">
                <a:solidFill>
                  <a:srgbClr val="0E0E0E"/>
                </a:solidFill>
              </a:rPr>
              <a:t># dans la base de données des utilisateurs (</a:t>
            </a:r>
            <a:r>
              <a:rPr lang="fr-FR" sz="1400" i="1" dirty="0" err="1">
                <a:solidFill>
                  <a:srgbClr val="0E0E0E"/>
                </a:solidFill>
              </a:rPr>
              <a:t>login:passwd:uid:gid:gecos:home</a:t>
            </a:r>
            <a:r>
              <a:rPr lang="fr-FR" sz="1400" i="1" dirty="0">
                <a:solidFill>
                  <a:srgbClr val="0E0E0E"/>
                </a:solidFill>
              </a:rPr>
              <a:t> </a:t>
            </a:r>
            <a:r>
              <a:rPr lang="fr-FR" sz="1400" i="1" dirty="0" err="1">
                <a:solidFill>
                  <a:srgbClr val="0E0E0E"/>
                </a:solidFill>
              </a:rPr>
              <a:t>dir:shell</a:t>
            </a:r>
            <a:r>
              <a:rPr lang="fr-FR" sz="1400" i="1" dirty="0">
                <a:solidFill>
                  <a:srgbClr val="0E0E0E"/>
                </a:solidFill>
              </a:rPr>
              <a:t>)</a:t>
            </a:r>
          </a:p>
          <a:p>
            <a:pPr marL="44450"/>
            <a:endParaRPr lang="fr-FR" sz="600" dirty="0"/>
          </a:p>
          <a:p>
            <a:pPr marL="44450"/>
            <a:r>
              <a:rPr lang="fr-FR" sz="1400" dirty="0"/>
              <a:t># Vérifier si le répertoire utilisateur existe</a:t>
            </a:r>
          </a:p>
          <a:p>
            <a:pPr marL="44450"/>
            <a:r>
              <a:rPr lang="fr-FR" sz="1400" dirty="0"/>
              <a:t>if [ ! -d "$USER_HOME" ]; </a:t>
            </a:r>
            <a:r>
              <a:rPr lang="fr-FR" sz="1400" dirty="0" err="1"/>
              <a:t>then</a:t>
            </a:r>
            <a:endParaRPr lang="fr-FR" sz="1400" dirty="0"/>
          </a:p>
          <a:p>
            <a:pPr marL="44450"/>
            <a:r>
              <a:rPr lang="fr-FR" sz="1400" dirty="0"/>
              <a:t>    </a:t>
            </a:r>
            <a:r>
              <a:rPr lang="fr-FR" sz="1400" dirty="0" err="1"/>
              <a:t>echo</a:t>
            </a:r>
            <a:r>
              <a:rPr lang="fr-FR" sz="1400" dirty="0"/>
              <a:t> "Le répertoire de l'utilisateur $USERNAME est introuvable."</a:t>
            </a:r>
          </a:p>
          <a:p>
            <a:pPr marL="44450"/>
            <a:r>
              <a:rPr lang="fr-FR" sz="1400" dirty="0"/>
              <a:t>    exit 1</a:t>
            </a:r>
          </a:p>
          <a:p>
            <a:pPr marL="44450"/>
            <a:r>
              <a:rPr lang="fr-FR" sz="1400" dirty="0"/>
              <a:t>Fi</a:t>
            </a:r>
          </a:p>
          <a:p>
            <a:pPr marL="44450"/>
            <a:endParaRPr lang="fr-FR" sz="600" dirty="0"/>
          </a:p>
          <a:p>
            <a:pPr marL="44450"/>
            <a:r>
              <a:rPr lang="fr-FR" sz="1400" dirty="0"/>
              <a:t># Fichier pour enregistrer les événements</a:t>
            </a:r>
          </a:p>
          <a:p>
            <a:pPr marL="44450"/>
            <a:r>
              <a:rPr lang="fr-FR" sz="1400" dirty="0"/>
              <a:t>EVENTS_FILE="$USER_HOME/</a:t>
            </a:r>
            <a:r>
              <a:rPr lang="fr-FR" sz="1400" dirty="0" err="1"/>
              <a:t>user_events.log</a:t>
            </a:r>
            <a:r>
              <a:rPr lang="fr-FR" sz="1400" dirty="0"/>
              <a:t>"</a:t>
            </a:r>
          </a:p>
          <a:p>
            <a:pPr marL="44450"/>
            <a:r>
              <a:rPr lang="fr-FR" sz="1400" dirty="0"/>
              <a:t># Rechercher les événements contenant le nom de l'utilisateur dans /var/log/</a:t>
            </a:r>
            <a:r>
              <a:rPr lang="fr-FR" sz="1400" dirty="0" err="1"/>
              <a:t>syslog</a:t>
            </a:r>
            <a:endParaRPr lang="fr-FR" sz="1400" dirty="0"/>
          </a:p>
          <a:p>
            <a:pPr marL="44450"/>
            <a:r>
              <a:rPr lang="fr-FR" sz="1400" dirty="0" err="1"/>
              <a:t>echo</a:t>
            </a:r>
            <a:r>
              <a:rPr lang="fr-FR" sz="1400" dirty="0"/>
              <a:t> "Événements pour l'utilisateur $USERNAME (exécuté le $(date)) :" &gt; "$EVENTS_FILE"</a:t>
            </a:r>
          </a:p>
          <a:p>
            <a:pPr marL="44450"/>
            <a:r>
              <a:rPr lang="fr-FR" sz="1400" dirty="0" err="1"/>
              <a:t>grep</a:t>
            </a:r>
            <a:r>
              <a:rPr lang="fr-FR" sz="1400" dirty="0"/>
              <a:t> "$USERNAME" /var/log/</a:t>
            </a:r>
            <a:r>
              <a:rPr lang="fr-FR" sz="1400" dirty="0" err="1"/>
              <a:t>syslog</a:t>
            </a:r>
            <a:r>
              <a:rPr lang="fr-FR" sz="1400" dirty="0"/>
              <a:t> &gt;&gt; "$EVENTS_FILE »</a:t>
            </a:r>
          </a:p>
          <a:p>
            <a:pPr marL="44450"/>
            <a:endParaRPr lang="fr-FR" sz="600" dirty="0"/>
          </a:p>
          <a:p>
            <a:pPr marL="44450"/>
            <a:r>
              <a:rPr lang="fr-FR" sz="1400" dirty="0" err="1"/>
              <a:t>echo</a:t>
            </a:r>
            <a:r>
              <a:rPr lang="fr-FR" sz="1400" dirty="0"/>
              <a:t> "Les événements ont été enregistrés dans $EVENTS_FILE"</a:t>
            </a:r>
          </a:p>
        </p:txBody>
      </p:sp>
      <p:sp>
        <p:nvSpPr>
          <p:cNvPr id="2" name="ZoneTexte 1">
            <a:extLst>
              <a:ext uri="{FF2B5EF4-FFF2-40B4-BE49-F238E27FC236}">
                <a16:creationId xmlns:a16="http://schemas.microsoft.com/office/drawing/2014/main" id="{D26D9039-5BFC-D35C-1C63-3028C80AE9C3}"/>
              </a:ext>
            </a:extLst>
          </p:cNvPr>
          <p:cNvSpPr txBox="1"/>
          <p:nvPr/>
        </p:nvSpPr>
        <p:spPr>
          <a:xfrm>
            <a:off x="7179425" y="840722"/>
            <a:ext cx="6001316" cy="1384995"/>
          </a:xfrm>
          <a:prstGeom prst="rect">
            <a:avLst/>
          </a:prstGeom>
          <a:noFill/>
        </p:spPr>
        <p:txBody>
          <a:bodyPr wrap="square" rtlCol="0">
            <a:spAutoFit/>
          </a:bodyPr>
          <a:lstStyle/>
          <a:p>
            <a:r>
              <a:rPr lang="fr-FR" sz="1400" b="1" dirty="0">
                <a:solidFill>
                  <a:srgbClr val="FF0000"/>
                </a:solidFill>
              </a:rPr>
              <a:t>PLANNIFICATION DE L’EXECUTION</a:t>
            </a:r>
          </a:p>
          <a:p>
            <a:endParaRPr lang="fr-FR" sz="1400" dirty="0"/>
          </a:p>
          <a:p>
            <a:r>
              <a:rPr lang="fr-FR" sz="1400" dirty="0" err="1"/>
              <a:t>crontab</a:t>
            </a:r>
            <a:r>
              <a:rPr lang="fr-FR" sz="1400" dirty="0"/>
              <a:t> –e</a:t>
            </a:r>
          </a:p>
          <a:p>
            <a:endParaRPr lang="fr-FR" sz="1400" dirty="0"/>
          </a:p>
          <a:p>
            <a:r>
              <a:rPr lang="fr-FR" sz="1400" dirty="0"/>
              <a:t>0 0 * * * /home/utilisateur/scripts/</a:t>
            </a:r>
            <a:r>
              <a:rPr lang="fr-FR" sz="1400" dirty="0" err="1"/>
              <a:t>monitor_user_simple.sh</a:t>
            </a:r>
            <a:r>
              <a:rPr lang="fr-FR" sz="1400" dirty="0"/>
              <a:t> &gt;   </a:t>
            </a:r>
          </a:p>
          <a:p>
            <a:r>
              <a:rPr lang="fr-FR" sz="1400" dirty="0"/>
              <a:t>                /home/utilisateur/scripts/</a:t>
            </a:r>
            <a:r>
              <a:rPr lang="fr-FR" sz="1400" dirty="0" err="1"/>
              <a:t>monitor_user_simple.log</a:t>
            </a:r>
            <a:r>
              <a:rPr lang="fr-FR" sz="1400" dirty="0"/>
              <a:t> 2&gt;&amp;1</a:t>
            </a:r>
          </a:p>
        </p:txBody>
      </p:sp>
    </p:spTree>
    <p:extLst>
      <p:ext uri="{BB962C8B-B14F-4D97-AF65-F5344CB8AC3E}">
        <p14:creationId xmlns:p14="http://schemas.microsoft.com/office/powerpoint/2010/main" val="296827180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2114</Words>
  <Application>Microsoft Macintosh PowerPoint</Application>
  <PresentationFormat>Grand écran</PresentationFormat>
  <Paragraphs>216</Paragraphs>
  <Slides>17</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vt:i4>
      </vt:variant>
    </vt:vector>
  </HeadingPairs>
  <TitlesOfParts>
    <vt:vector size="24" baseType="lpstr">
      <vt:lpstr>.AppleSystemUIFont</vt:lpstr>
      <vt:lpstr>.AppleSystemUIFontMonospaced</vt:lpstr>
      <vt:lpstr>Aptos</vt:lpstr>
      <vt:lpstr>Aptos Display</vt:lpstr>
      <vt:lpstr>Arial</vt:lpstr>
      <vt:lpstr>Calibri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Amir HAJJAM EL HASSANI</dc:creator>
  <cp:lastModifiedBy>Amir HAJJAM EL HASSANI</cp:lastModifiedBy>
  <cp:revision>3</cp:revision>
  <dcterms:created xsi:type="dcterms:W3CDTF">2026-03-28T03:07:19Z</dcterms:created>
  <dcterms:modified xsi:type="dcterms:W3CDTF">2026-03-28T03:13:59Z</dcterms:modified>
</cp:coreProperties>
</file>